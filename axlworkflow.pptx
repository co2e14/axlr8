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1" r:id="rId2"/>
    <p:sldId id="303" r:id="rId3"/>
    <p:sldId id="30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02931-9350-FA7F-585E-D5A28D43C1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71AA68-70B0-65F7-079A-ACA4CBAAB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48C58-875E-B27F-C8F2-C921F2D1B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C6A30-8421-904B-B83B-B92787AFE35F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9C623-E6F4-842E-B318-2A066DFB6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D4AB4-EA38-1C58-251D-3386EB78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2A5BD-E664-1C4B-BCC5-2463D233A1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91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575B5-7D1F-73A9-B369-AEB8271FA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C5F24-823D-9A22-24F7-D8BC7D4F8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AC4EE-87C2-CAD2-55CC-4EF1D3D1D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C6A30-8421-904B-B83B-B92787AFE35F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F5BB9-5AA7-B72F-F39C-8102DB72E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7DA8B-0127-ACED-F638-B737C2D34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2A5BD-E664-1C4B-BCC5-2463D233A1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3665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D8C18-1B1A-2B89-88F4-B18E2E0BF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260A9-EBE7-B4BE-F30D-EB138E68B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27A00-AE5E-C195-1561-961C3677B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C6A30-8421-904B-B83B-B92787AFE35F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FC464-C613-AE87-30E0-44FAA0AA7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7B923-9E2F-7F3A-6EBD-B06A01009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2A5BD-E664-1C4B-BCC5-2463D233A1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2394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B93-E4B2-2CA9-04DA-4DD67E007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1FC0C-8CF2-2A57-C637-E0E999F8C7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02DA4-78E9-42AA-BD6D-8F992B946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7FFF4-03E8-6417-62DB-E4A79AA11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C6A30-8421-904B-B83B-B92787AFE35F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5561D-64CB-6FA2-8FCD-E0CCE9C2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7019B-DCDE-3C7D-0766-45B5C4094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2A5BD-E664-1C4B-BCC5-2463D233A1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6302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7A03C-1C14-397F-257E-E3F102B40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BDEDA-D32C-0C97-F24D-CEC75E1BB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5B58AA-7BFC-F2A5-D9C3-59581D55B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7620C1-95DF-D24A-B246-32CA672FFE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3F4B1E-32F1-B059-B206-5FBA35103A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677C7C-CE33-C3C2-9015-C9FC18E62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C6A30-8421-904B-B83B-B92787AFE35F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6A51A-18FF-D9BE-D6E2-3DEA0FCCD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EE586C-C461-6DD0-A4AF-E226E3F25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2A5BD-E664-1C4B-BCC5-2463D233A1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2832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9D4D4-0CAB-5528-192E-C44F9B991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399926-1909-128D-5F98-1EBAA572A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C6A30-8421-904B-B83B-B92787AFE35F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19779B-DC41-D8A0-79CE-ADF8AF059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646E47-3F8C-8AB5-4E29-97CB59D40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2A5BD-E664-1C4B-BCC5-2463D233A1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5040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92C8FE-91D6-60E2-6991-3E3B645FB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C6A30-8421-904B-B83B-B92787AFE35F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1CA32A-CEDE-5738-B52F-3CC625A87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AFE30-6318-DA17-450A-806EE8ABD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2A5BD-E664-1C4B-BCC5-2463D233A1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6425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718E2-92D8-BAA6-F5FE-68F0964D1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B6FAE-C301-F34D-E5BC-CC8C43BC1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93908A-2E1B-7493-1C25-CE0B9F7F06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5350B1-CCC1-18B7-44D4-2979CE9D6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C6A30-8421-904B-B83B-B92787AFE35F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6EBDA-1561-2B35-0281-8411D33E7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942B18-F43D-3897-13DC-05C8E306C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2A5BD-E664-1C4B-BCC5-2463D233A1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4788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80137-69CA-4DEE-1C7B-B6E9D98A6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3FCF22-029F-CF8C-4E19-DB4D0227342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B6A6B-305A-0B97-0E84-DD30E6812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2B302-E904-1C74-DDBF-04C9AD032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C6A30-8421-904B-B83B-B92787AFE35F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2DFCA-DEE6-1381-1D9F-DFF0BAA00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9AB5D-1E9F-EFE2-17C7-4BF72B150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2A5BD-E664-1C4B-BCC5-2463D233A1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072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E45AF-D1A9-7E06-7AD8-9E8C0E7A0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871C68-5C8D-61D3-70BF-EE657F56ED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B3AE3-9F5F-1FCB-7D83-B19788560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C6A30-8421-904B-B83B-B92787AFE35F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D6A4C-2268-D1AC-1DB5-E3018F976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6E62E-E7BE-1E6E-EBC4-85F2D7AB2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2A5BD-E664-1C4B-BCC5-2463D233A1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147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4946EA-B383-155E-3C42-23285F6107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C64EA7-E8F2-9008-F16D-DD66182CC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9A68D-9D93-791F-8D10-362D487A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C6A30-8421-904B-B83B-B92787AFE35F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8481E-2024-F73B-D037-B678A8C2A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E78BE-D6A4-172D-11BD-A672C4DEA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2A5BD-E664-1C4B-BCC5-2463D233A1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5307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2C9B4E-E207-5FFA-2BD1-90B2D7C91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1B507-044F-7C10-5753-9DDB0DF49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0A54D-CB43-0650-97D2-14D13C0BFE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DC6A30-8421-904B-B83B-B92787AFE35F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0E885-D8AD-6E1F-5966-A2CE81D8C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8010D-F7EC-1879-9FE9-8BB595D7E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72A5BD-E664-1C4B-BCC5-2463D233A1D1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BD80F0-6136-A616-5901-281A10249B0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54650" y="6626860"/>
            <a:ext cx="1311275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1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Classification: Public</a:t>
            </a:r>
          </a:p>
        </p:txBody>
      </p:sp>
    </p:spTree>
    <p:extLst>
      <p:ext uri="{BB962C8B-B14F-4D97-AF65-F5344CB8AC3E}">
        <p14:creationId xmlns:p14="http://schemas.microsoft.com/office/powerpoint/2010/main" val="3087371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ounded Rectangle 229">
            <a:extLst>
              <a:ext uri="{FF2B5EF4-FFF2-40B4-BE49-F238E27FC236}">
                <a16:creationId xmlns:a16="http://schemas.microsoft.com/office/drawing/2014/main" id="{3858ACB8-289E-E5E5-99D2-F2D2C8AFB179}"/>
              </a:ext>
            </a:extLst>
          </p:cNvPr>
          <p:cNvSpPr/>
          <p:nvPr/>
        </p:nvSpPr>
        <p:spPr>
          <a:xfrm>
            <a:off x="6782322" y="2757149"/>
            <a:ext cx="450433" cy="1047266"/>
          </a:xfrm>
          <a:prstGeom prst="roundRect">
            <a:avLst/>
          </a:prstGeom>
          <a:solidFill>
            <a:srgbClr val="FFD579"/>
          </a:solidFill>
          <a:ln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948"/>
          </a:p>
        </p:txBody>
      </p:sp>
      <p:sp>
        <p:nvSpPr>
          <p:cNvPr id="196" name="Rounded Rectangle 195">
            <a:extLst>
              <a:ext uri="{FF2B5EF4-FFF2-40B4-BE49-F238E27FC236}">
                <a16:creationId xmlns:a16="http://schemas.microsoft.com/office/drawing/2014/main" id="{F01C8CC6-1F9C-372A-458B-B5E76A4B98BB}"/>
              </a:ext>
            </a:extLst>
          </p:cNvPr>
          <p:cNvSpPr/>
          <p:nvPr/>
        </p:nvSpPr>
        <p:spPr>
          <a:xfrm>
            <a:off x="7576879" y="2802877"/>
            <a:ext cx="1128357" cy="2889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474" i="1" err="1">
                <a:solidFill>
                  <a:schemeClr val="bg1"/>
                </a:solidFill>
              </a:rPr>
              <a:t>SpectroQ</a:t>
            </a:r>
            <a:endParaRPr lang="en-GB" sz="474" i="1">
              <a:solidFill>
                <a:schemeClr val="bg1"/>
              </a:solidFill>
            </a:endParaRPr>
          </a:p>
        </p:txBody>
      </p:sp>
      <p:sp>
        <p:nvSpPr>
          <p:cNvPr id="188" name="Rounded Rectangle 187">
            <a:extLst>
              <a:ext uri="{FF2B5EF4-FFF2-40B4-BE49-F238E27FC236}">
                <a16:creationId xmlns:a16="http://schemas.microsoft.com/office/drawing/2014/main" id="{1AF11771-F21B-12F8-3AC0-1C9EDB5C3DBE}"/>
              </a:ext>
            </a:extLst>
          </p:cNvPr>
          <p:cNvSpPr/>
          <p:nvPr/>
        </p:nvSpPr>
        <p:spPr>
          <a:xfrm>
            <a:off x="1456002" y="1152238"/>
            <a:ext cx="4906978" cy="2050524"/>
          </a:xfrm>
          <a:prstGeom prst="roundRect">
            <a:avLst/>
          </a:prstGeom>
          <a:noFill/>
          <a:ln>
            <a:solidFill>
              <a:srgbClr val="FF40FF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948"/>
          </a:p>
        </p:txBody>
      </p:sp>
      <p:sp>
        <p:nvSpPr>
          <p:cNvPr id="187" name="Rounded Rectangle 186">
            <a:extLst>
              <a:ext uri="{FF2B5EF4-FFF2-40B4-BE49-F238E27FC236}">
                <a16:creationId xmlns:a16="http://schemas.microsoft.com/office/drawing/2014/main" id="{4688AC88-EEEC-5395-1779-778C36355AC8}"/>
              </a:ext>
            </a:extLst>
          </p:cNvPr>
          <p:cNvSpPr/>
          <p:nvPr/>
        </p:nvSpPr>
        <p:spPr>
          <a:xfrm>
            <a:off x="9134646" y="2830315"/>
            <a:ext cx="458759" cy="2123701"/>
          </a:xfrm>
          <a:prstGeom prst="roundRect">
            <a:avLst/>
          </a:prstGeom>
          <a:solidFill>
            <a:srgbClr val="FFD579"/>
          </a:solidFill>
          <a:ln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948"/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AD9D69D0-58E8-9F33-92BE-FA97FC82A1D8}"/>
              </a:ext>
            </a:extLst>
          </p:cNvPr>
          <p:cNvGrpSpPr/>
          <p:nvPr/>
        </p:nvGrpSpPr>
        <p:grpSpPr>
          <a:xfrm>
            <a:off x="1884754" y="2193349"/>
            <a:ext cx="824595" cy="288989"/>
            <a:chOff x="3586133" y="1537129"/>
            <a:chExt cx="1217458" cy="426673"/>
          </a:xfrm>
        </p:grpSpPr>
        <p:sp>
          <p:nvSpPr>
            <p:cNvPr id="180" name="Rounded Rectangle 179">
              <a:extLst>
                <a:ext uri="{FF2B5EF4-FFF2-40B4-BE49-F238E27FC236}">
                  <a16:creationId xmlns:a16="http://schemas.microsoft.com/office/drawing/2014/main" id="{A0538909-3ED2-8BBF-FA02-09A30B7D6ADA}"/>
                </a:ext>
              </a:extLst>
            </p:cNvPr>
            <p:cNvSpPr/>
            <p:nvPr/>
          </p:nvSpPr>
          <p:spPr>
            <a:xfrm>
              <a:off x="3586133" y="1537129"/>
              <a:ext cx="1217458" cy="42667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>
              <a:defPPr>
                <a:defRPr lang="en-US"/>
              </a:defPPr>
              <a:lvl1pPr marL="0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2555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5109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7664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021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12773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3532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57882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80437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474" i="1">
                  <a:solidFill>
                    <a:schemeClr val="bg1"/>
                  </a:solidFill>
                </a:rPr>
                <a:t>Linked devices</a:t>
              </a:r>
            </a:p>
          </p:txBody>
        </p:sp>
        <p:sp>
          <p:nvSpPr>
            <p:cNvPr id="181" name="Rounded Rectangle 180">
              <a:extLst>
                <a:ext uri="{FF2B5EF4-FFF2-40B4-BE49-F238E27FC236}">
                  <a16:creationId xmlns:a16="http://schemas.microsoft.com/office/drawing/2014/main" id="{B1BF1B74-7716-ECEC-2A8F-C5AEF013617A}"/>
                </a:ext>
              </a:extLst>
            </p:cNvPr>
            <p:cNvSpPr/>
            <p:nvPr/>
          </p:nvSpPr>
          <p:spPr>
            <a:xfrm>
              <a:off x="4223950" y="1680340"/>
              <a:ext cx="517316" cy="221312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2555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5109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7664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021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12773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3532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57882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80437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339">
                  <a:solidFill>
                    <a:schemeClr val="bg1"/>
                  </a:solidFill>
                </a:rPr>
                <a:t>Plate </a:t>
              </a:r>
              <a:r>
                <a:rPr lang="en-GB" sz="339" err="1">
                  <a:solidFill>
                    <a:schemeClr val="bg1"/>
                  </a:solidFill>
                </a:rPr>
                <a:t>labeler</a:t>
              </a:r>
              <a:r>
                <a:rPr lang="en-GB" sz="339">
                  <a:solidFill>
                    <a:schemeClr val="bg1"/>
                  </a:solidFill>
                </a:rPr>
                <a:t> </a:t>
              </a:r>
            </a:p>
            <a:p>
              <a:pPr algn="ctr"/>
              <a:r>
                <a:rPr lang="en-GB" sz="339">
                  <a:solidFill>
                    <a:schemeClr val="bg1"/>
                  </a:solidFill>
                </a:rPr>
                <a:t>(1of)</a:t>
              </a:r>
            </a:p>
          </p:txBody>
        </p:sp>
        <p:sp>
          <p:nvSpPr>
            <p:cNvPr id="182" name="Rounded Rectangle 181">
              <a:extLst>
                <a:ext uri="{FF2B5EF4-FFF2-40B4-BE49-F238E27FC236}">
                  <a16:creationId xmlns:a16="http://schemas.microsoft.com/office/drawing/2014/main" id="{AF445EEE-298C-DB34-9433-9BA07C1132E6}"/>
                </a:ext>
              </a:extLst>
            </p:cNvPr>
            <p:cNvSpPr/>
            <p:nvPr/>
          </p:nvSpPr>
          <p:spPr>
            <a:xfrm>
              <a:off x="3656469" y="1680340"/>
              <a:ext cx="517316" cy="221312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2555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5109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7664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021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12773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3532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57882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80437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339" err="1">
                  <a:solidFill>
                    <a:schemeClr val="bg1"/>
                  </a:solidFill>
                </a:rPr>
                <a:t>BenchCel</a:t>
              </a:r>
              <a:r>
                <a:rPr lang="en-GB" sz="339">
                  <a:solidFill>
                    <a:schemeClr val="bg1"/>
                  </a:solidFill>
                </a:rPr>
                <a:t> (1of)</a:t>
              </a:r>
            </a:p>
          </p:txBody>
        </p:sp>
      </p:grpSp>
      <p:sp>
        <p:nvSpPr>
          <p:cNvPr id="150" name="Rounded Rectangle 149">
            <a:extLst>
              <a:ext uri="{FF2B5EF4-FFF2-40B4-BE49-F238E27FC236}">
                <a16:creationId xmlns:a16="http://schemas.microsoft.com/office/drawing/2014/main" id="{392BB2BC-6E79-3A97-2D2B-46A33D422472}"/>
              </a:ext>
            </a:extLst>
          </p:cNvPr>
          <p:cNvSpPr/>
          <p:nvPr/>
        </p:nvSpPr>
        <p:spPr>
          <a:xfrm>
            <a:off x="3090029" y="2802878"/>
            <a:ext cx="824595" cy="2889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474" i="1">
                <a:solidFill>
                  <a:schemeClr val="bg1"/>
                </a:solidFill>
              </a:rPr>
              <a:t>Linked devices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A3D651D-0C06-5571-B91E-1E8A154E12B7}"/>
              </a:ext>
            </a:extLst>
          </p:cNvPr>
          <p:cNvGrpSpPr/>
          <p:nvPr/>
        </p:nvGrpSpPr>
        <p:grpSpPr>
          <a:xfrm>
            <a:off x="827716" y="4210297"/>
            <a:ext cx="4026078" cy="270998"/>
            <a:chOff x="9259624" y="533016"/>
            <a:chExt cx="5944232" cy="400110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172BB092-E468-226C-DBCF-F01739339B8F}"/>
                </a:ext>
              </a:extLst>
            </p:cNvPr>
            <p:cNvSpPr/>
            <p:nvPr/>
          </p:nvSpPr>
          <p:spPr>
            <a:xfrm>
              <a:off x="9259624" y="620682"/>
              <a:ext cx="246221" cy="246221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2555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5109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7664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021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12773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3532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57882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80437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6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12E8CC1-41D9-8B6B-96A3-5179BE9120FE}"/>
                </a:ext>
              </a:extLst>
            </p:cNvPr>
            <p:cNvSpPr txBox="1"/>
            <p:nvPr/>
          </p:nvSpPr>
          <p:spPr>
            <a:xfrm>
              <a:off x="9505846" y="533016"/>
              <a:ext cx="569801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2555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5109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7664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021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12773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3532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57882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80437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77">
                  <a:latin typeface="Century Gothic" panose="020B0502020202020204" pitchFamily="34" charset="0"/>
                </a:rPr>
                <a:t>Time spent at device is project-specific, requires characterization and is determined on a per-project basis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52CFAD2B-6673-5C76-9A08-6CE059C2605A}"/>
              </a:ext>
            </a:extLst>
          </p:cNvPr>
          <p:cNvSpPr txBox="1"/>
          <p:nvPr/>
        </p:nvSpPr>
        <p:spPr>
          <a:xfrm>
            <a:off x="789223" y="4075988"/>
            <a:ext cx="1641111" cy="196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77" b="1" u="sng">
                <a:latin typeface="Century Gothic" panose="020B0502020202020204" pitchFamily="34" charset="0"/>
              </a:rPr>
              <a:t>Key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FD72980-A27D-C5CB-532E-D56AFEBF6056}"/>
              </a:ext>
            </a:extLst>
          </p:cNvPr>
          <p:cNvGrpSpPr/>
          <p:nvPr/>
        </p:nvGrpSpPr>
        <p:grpSpPr>
          <a:xfrm>
            <a:off x="827716" y="4532392"/>
            <a:ext cx="3883304" cy="166768"/>
            <a:chOff x="9259624" y="620682"/>
            <a:chExt cx="5733436" cy="246221"/>
          </a:xfrm>
        </p:grpSpPr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3E651FA8-AF66-45D2-7406-309733F81133}"/>
                </a:ext>
              </a:extLst>
            </p:cNvPr>
            <p:cNvSpPr/>
            <p:nvPr/>
          </p:nvSpPr>
          <p:spPr>
            <a:xfrm>
              <a:off x="9259624" y="620682"/>
              <a:ext cx="246221" cy="246221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2555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5109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7664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021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12773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3532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57882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80437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6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7B0681D-1BA3-F618-8AB2-8678FD2052B8}"/>
                </a:ext>
              </a:extLst>
            </p:cNvPr>
            <p:cNvSpPr txBox="1"/>
            <p:nvPr/>
          </p:nvSpPr>
          <p:spPr>
            <a:xfrm>
              <a:off x="9505845" y="620682"/>
              <a:ext cx="548721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2555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5109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7664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021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12773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3532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57882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80437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77">
                  <a:latin typeface="Century Gothic" panose="020B0502020202020204" pitchFamily="34" charset="0"/>
                </a:rPr>
                <a:t>Fixed timings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254DC8D-B33A-A69A-87AB-D00835D7747D}"/>
              </a:ext>
            </a:extLst>
          </p:cNvPr>
          <p:cNvGrpSpPr/>
          <p:nvPr/>
        </p:nvGrpSpPr>
        <p:grpSpPr>
          <a:xfrm>
            <a:off x="827716" y="4770653"/>
            <a:ext cx="3883304" cy="166768"/>
            <a:chOff x="9259624" y="620682"/>
            <a:chExt cx="5733436" cy="246221"/>
          </a:xfrm>
        </p:grpSpPr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E102E673-FDAE-CE37-3FDB-8B9F9FB1FF2C}"/>
                </a:ext>
              </a:extLst>
            </p:cNvPr>
            <p:cNvSpPr/>
            <p:nvPr/>
          </p:nvSpPr>
          <p:spPr>
            <a:xfrm>
              <a:off x="9259624" y="620682"/>
              <a:ext cx="246221" cy="246221"/>
            </a:xfrm>
            <a:prstGeom prst="roundRect">
              <a:avLst/>
            </a:prstGeom>
            <a:pattFill prst="wdUpDiag">
              <a:fgClr>
                <a:schemeClr val="accent1"/>
              </a:fgClr>
              <a:bgClr>
                <a:schemeClr val="accent5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2555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5109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7664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021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12773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3532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57882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80437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6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D000E79-D27C-20C8-D3D7-3DF189453DF4}"/>
                </a:ext>
              </a:extLst>
            </p:cNvPr>
            <p:cNvSpPr txBox="1"/>
            <p:nvPr/>
          </p:nvSpPr>
          <p:spPr>
            <a:xfrm>
              <a:off x="9505845" y="620682"/>
              <a:ext cx="548721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2555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5109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7664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021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12773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3532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57882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80437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77">
                  <a:latin typeface="Century Gothic" panose="020B0502020202020204" pitchFamily="34" charset="0"/>
                </a:rPr>
                <a:t>Reformatting Points – reagents change labware type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17C2137-8DBF-30D3-66C6-AF0EE66FD952}"/>
              </a:ext>
            </a:extLst>
          </p:cNvPr>
          <p:cNvGrpSpPr/>
          <p:nvPr/>
        </p:nvGrpSpPr>
        <p:grpSpPr>
          <a:xfrm>
            <a:off x="827716" y="4991261"/>
            <a:ext cx="3883304" cy="166768"/>
            <a:chOff x="9259624" y="620682"/>
            <a:chExt cx="5733436" cy="246221"/>
          </a:xfrm>
        </p:grpSpPr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B8C32648-DBC5-1BB8-0D05-19D6A2E66CB8}"/>
                </a:ext>
              </a:extLst>
            </p:cNvPr>
            <p:cNvSpPr/>
            <p:nvPr/>
          </p:nvSpPr>
          <p:spPr>
            <a:xfrm>
              <a:off x="9259624" y="620682"/>
              <a:ext cx="246221" cy="246221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2555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5109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7664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021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12773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3532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57882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80437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6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08C64F3-998A-6DCE-F08D-9641D4955951}"/>
                </a:ext>
              </a:extLst>
            </p:cNvPr>
            <p:cNvSpPr txBox="1"/>
            <p:nvPr/>
          </p:nvSpPr>
          <p:spPr>
            <a:xfrm>
              <a:off x="9505845" y="620682"/>
              <a:ext cx="548721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2555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5109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7664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021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12773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3532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57882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80437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77">
                  <a:latin typeface="Century Gothic" panose="020B0502020202020204" pitchFamily="34" charset="0"/>
                </a:rPr>
                <a:t>Manual Access Points required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C209BE0D-08DC-45EA-D56A-2EC4B75F56B1}"/>
              </a:ext>
            </a:extLst>
          </p:cNvPr>
          <p:cNvGrpSpPr/>
          <p:nvPr/>
        </p:nvGrpSpPr>
        <p:grpSpPr>
          <a:xfrm>
            <a:off x="827716" y="5227846"/>
            <a:ext cx="3883304" cy="166768"/>
            <a:chOff x="9259624" y="620682"/>
            <a:chExt cx="5733436" cy="246221"/>
          </a:xfrm>
        </p:grpSpPr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DA6AA463-C7AB-049F-FBD8-4EFB0659A6FD}"/>
                </a:ext>
              </a:extLst>
            </p:cNvPr>
            <p:cNvSpPr/>
            <p:nvPr/>
          </p:nvSpPr>
          <p:spPr>
            <a:xfrm>
              <a:off x="9259624" y="620682"/>
              <a:ext cx="246221" cy="246221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2555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5109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7664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021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12773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3532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57882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80437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6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9C232ED-EC0E-E324-48F2-FEAEE5F9A3D3}"/>
                </a:ext>
              </a:extLst>
            </p:cNvPr>
            <p:cNvSpPr txBox="1"/>
            <p:nvPr/>
          </p:nvSpPr>
          <p:spPr>
            <a:xfrm>
              <a:off x="9505845" y="620682"/>
              <a:ext cx="548721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2555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5109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7664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021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12773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3532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57882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80437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77">
                  <a:latin typeface="Century Gothic" panose="020B0502020202020204" pitchFamily="34" charset="0"/>
                </a:rPr>
                <a:t>Optional: for leftover reagents</a:t>
              </a:r>
            </a:p>
          </p:txBody>
        </p:sp>
      </p:grp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48F6CB11-5A31-5728-A3F5-554425CEDE9E}"/>
              </a:ext>
            </a:extLst>
          </p:cNvPr>
          <p:cNvSpPr/>
          <p:nvPr/>
        </p:nvSpPr>
        <p:spPr>
          <a:xfrm>
            <a:off x="2706594" y="1230967"/>
            <a:ext cx="484001" cy="1290617"/>
          </a:xfrm>
          <a:prstGeom prst="roundRect">
            <a:avLst/>
          </a:prstGeom>
          <a:solidFill>
            <a:srgbClr val="FFD579"/>
          </a:solidFill>
          <a:ln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948"/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A613EF94-D37A-15D3-BA38-15660413BD74}"/>
              </a:ext>
            </a:extLst>
          </p:cNvPr>
          <p:cNvSpPr/>
          <p:nvPr/>
        </p:nvSpPr>
        <p:spPr>
          <a:xfrm>
            <a:off x="4297108" y="2155497"/>
            <a:ext cx="450433" cy="1047266"/>
          </a:xfrm>
          <a:prstGeom prst="roundRect">
            <a:avLst/>
          </a:prstGeom>
          <a:solidFill>
            <a:srgbClr val="FFD579"/>
          </a:solidFill>
          <a:ln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948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157FD-D0C0-07E9-06D6-DDEF76D3BAC3}"/>
              </a:ext>
            </a:extLst>
          </p:cNvPr>
          <p:cNvSpPr txBox="1"/>
          <p:nvPr/>
        </p:nvSpPr>
        <p:spPr>
          <a:xfrm>
            <a:off x="3137266" y="2662014"/>
            <a:ext cx="1024620" cy="186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610"/>
              <a:t>Route for Crystal Plates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955DE967-5E94-8C88-B6D3-47503FED64D1}"/>
              </a:ext>
            </a:extLst>
          </p:cNvPr>
          <p:cNvSpPr/>
          <p:nvPr/>
        </p:nvSpPr>
        <p:spPr>
          <a:xfrm>
            <a:off x="6824097" y="2557666"/>
            <a:ext cx="350382" cy="14989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/>
              <a:t>MAP (plates in/out)</a:t>
            </a:r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80CC40C3-F53C-5462-4CA8-B7EDDBC22112}"/>
              </a:ext>
            </a:extLst>
          </p:cNvPr>
          <p:cNvCxnSpPr>
            <a:cxnSpLocks/>
            <a:stCxn id="41" idx="1"/>
            <a:endCxn id="82" idx="0"/>
          </p:cNvCxnSpPr>
          <p:nvPr/>
        </p:nvCxnSpPr>
        <p:spPr>
          <a:xfrm rot="10800000" flipV="1">
            <a:off x="6190776" y="2632614"/>
            <a:ext cx="633323" cy="27445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1173D436-C42F-7BC4-8934-B6E1325F7586}"/>
              </a:ext>
            </a:extLst>
          </p:cNvPr>
          <p:cNvCxnSpPr>
            <a:cxnSpLocks/>
            <a:stCxn id="41" idx="3"/>
            <a:endCxn id="196" idx="0"/>
          </p:cNvCxnSpPr>
          <p:nvPr/>
        </p:nvCxnSpPr>
        <p:spPr>
          <a:xfrm>
            <a:off x="7174480" y="2632614"/>
            <a:ext cx="966577" cy="17026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10737FE5-5D8E-23FF-5C52-1F4B9D1AB64A}"/>
              </a:ext>
            </a:extLst>
          </p:cNvPr>
          <p:cNvSpPr/>
          <p:nvPr/>
        </p:nvSpPr>
        <p:spPr>
          <a:xfrm>
            <a:off x="1581954" y="1305443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ARKTIK </a:t>
            </a:r>
          </a:p>
          <a:p>
            <a:pPr algn="ctr"/>
            <a:r>
              <a:rPr lang="en-GB" sz="339">
                <a:solidFill>
                  <a:schemeClr val="bg1"/>
                </a:solidFill>
              </a:rPr>
              <a:t>(1of)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1CB7347E-4C4B-F604-86AA-153BC5144978}"/>
              </a:ext>
            </a:extLst>
          </p:cNvPr>
          <p:cNvSpPr/>
          <p:nvPr/>
        </p:nvSpPr>
        <p:spPr>
          <a:xfrm>
            <a:off x="1973509" y="1305443"/>
            <a:ext cx="350382" cy="149896"/>
          </a:xfrm>
          <a:prstGeom prst="roundRect">
            <a:avLst/>
          </a:prstGeom>
          <a:pattFill prst="wdUpDiag">
            <a:fgClr>
              <a:schemeClr val="accent2"/>
            </a:fgClr>
            <a:bgClr>
              <a:schemeClr val="accent5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/>
              <a:t>Connect (1of)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94401934-0E68-DCCF-D3F6-B2074EE2DC78}"/>
              </a:ext>
            </a:extLst>
          </p:cNvPr>
          <p:cNvSpPr/>
          <p:nvPr/>
        </p:nvSpPr>
        <p:spPr>
          <a:xfrm>
            <a:off x="2365065" y="1305443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Centrifuge (2of)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7249B5D5-617A-FF67-6C3F-E147035AD8A9}"/>
              </a:ext>
            </a:extLst>
          </p:cNvPr>
          <p:cNvSpPr/>
          <p:nvPr/>
        </p:nvSpPr>
        <p:spPr>
          <a:xfrm>
            <a:off x="2773404" y="1305443"/>
            <a:ext cx="350382" cy="149896"/>
          </a:xfrm>
          <a:prstGeom prst="roundRect">
            <a:avLst/>
          </a:prstGeom>
          <a:pattFill prst="wdUpDiag">
            <a:fgClr>
              <a:schemeClr val="accent1"/>
            </a:fgClr>
            <a:bgClr>
              <a:schemeClr val="accent5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/>
              <a:t>XL200** </a:t>
            </a:r>
            <a:r>
              <a:rPr lang="en-GB" sz="339" err="1"/>
              <a:t>LiHa</a:t>
            </a:r>
            <a:endParaRPr lang="en-GB" sz="339"/>
          </a:p>
          <a:p>
            <a:pPr algn="ctr"/>
            <a:r>
              <a:rPr lang="en-GB" sz="339"/>
              <a:t>(1of)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C2CC832-405F-E4F3-AFFE-82963D4096DC}"/>
              </a:ext>
            </a:extLst>
          </p:cNvPr>
          <p:cNvSpPr txBox="1"/>
          <p:nvPr/>
        </p:nvSpPr>
        <p:spPr>
          <a:xfrm>
            <a:off x="1574580" y="1174889"/>
            <a:ext cx="2587306" cy="175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542"/>
              <a:t>Route for Reagents from Arktik-80oC Ultra Low Storage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AF3F01A3-FDC4-0C1A-0450-8AE389BFEC92}"/>
              </a:ext>
            </a:extLst>
          </p:cNvPr>
          <p:cNvSpPr/>
          <p:nvPr/>
        </p:nvSpPr>
        <p:spPr>
          <a:xfrm>
            <a:off x="1180694" y="1593950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DFSA STX-280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5D4118CF-360A-C516-2A73-43AEBFBDAA0E}"/>
              </a:ext>
            </a:extLst>
          </p:cNvPr>
          <p:cNvSpPr/>
          <p:nvPr/>
        </p:nvSpPr>
        <p:spPr>
          <a:xfrm>
            <a:off x="1973509" y="1593950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Centrifuge (2of)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B0518010-F5DA-7B93-FC61-3931C81C5A12}"/>
              </a:ext>
            </a:extLst>
          </p:cNvPr>
          <p:cNvSpPr/>
          <p:nvPr/>
        </p:nvSpPr>
        <p:spPr>
          <a:xfrm>
            <a:off x="2365065" y="1593950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Peeler </a:t>
            </a:r>
          </a:p>
          <a:p>
            <a:pPr algn="ctr"/>
            <a:r>
              <a:rPr lang="en-GB" sz="339">
                <a:solidFill>
                  <a:schemeClr val="bg1"/>
                </a:solidFill>
              </a:rPr>
              <a:t>(2of)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962EDB62-20C7-AEEF-F026-2B9C4EDE6CB3}"/>
              </a:ext>
            </a:extLst>
          </p:cNvPr>
          <p:cNvSpPr/>
          <p:nvPr/>
        </p:nvSpPr>
        <p:spPr>
          <a:xfrm>
            <a:off x="2773404" y="1593950"/>
            <a:ext cx="350382" cy="149896"/>
          </a:xfrm>
          <a:prstGeom prst="roundRect">
            <a:avLst/>
          </a:prstGeom>
          <a:pattFill prst="wdUpDiag">
            <a:fgClr>
              <a:schemeClr val="accent1"/>
            </a:fgClr>
            <a:bgClr>
              <a:schemeClr val="accent5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/>
              <a:t>XL200** </a:t>
            </a:r>
            <a:r>
              <a:rPr lang="en-GB" sz="339" err="1"/>
              <a:t>LiHa</a:t>
            </a:r>
            <a:endParaRPr lang="en-GB" sz="339"/>
          </a:p>
          <a:p>
            <a:pPr algn="ctr"/>
            <a:r>
              <a:rPr lang="en-GB" sz="339"/>
              <a:t>(1of)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D832AB4-A52F-9EEB-5F36-38710B86F1B3}"/>
              </a:ext>
            </a:extLst>
          </p:cNvPr>
          <p:cNvSpPr txBox="1"/>
          <p:nvPr/>
        </p:nvSpPr>
        <p:spPr>
          <a:xfrm>
            <a:off x="1165947" y="1470771"/>
            <a:ext cx="1789244" cy="175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542"/>
              <a:t>Route for Reagents from -20oC Ultra Low Storage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6C4BCEEA-7981-7DCC-2A24-70B076FEA37A}"/>
              </a:ext>
            </a:extLst>
          </p:cNvPr>
          <p:cNvSpPr/>
          <p:nvPr/>
        </p:nvSpPr>
        <p:spPr>
          <a:xfrm>
            <a:off x="1577102" y="1593950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XL200** thawer</a:t>
            </a:r>
          </a:p>
          <a:p>
            <a:pPr algn="ctr"/>
            <a:r>
              <a:rPr lang="en-GB" sz="339">
                <a:solidFill>
                  <a:schemeClr val="bg1"/>
                </a:solidFill>
              </a:rPr>
              <a:t>(1of)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D12A8DFE-C6DE-4F16-684A-0B9B87E59A6E}"/>
              </a:ext>
            </a:extLst>
          </p:cNvPr>
          <p:cNvSpPr/>
          <p:nvPr/>
        </p:nvSpPr>
        <p:spPr>
          <a:xfrm>
            <a:off x="1573719" y="1884884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 err="1">
                <a:solidFill>
                  <a:schemeClr val="bg1"/>
                </a:solidFill>
              </a:rPr>
              <a:t>SpectroQ</a:t>
            </a:r>
            <a:r>
              <a:rPr lang="en-GB" sz="339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GB" sz="339">
                <a:solidFill>
                  <a:schemeClr val="bg1"/>
                </a:solidFill>
              </a:rPr>
              <a:t>(3of)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B26BD915-E03E-A4EF-0B75-425C31AA074A}"/>
              </a:ext>
            </a:extLst>
          </p:cNvPr>
          <p:cNvSpPr/>
          <p:nvPr/>
        </p:nvSpPr>
        <p:spPr>
          <a:xfrm>
            <a:off x="2364025" y="1890227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Peeler* </a:t>
            </a:r>
          </a:p>
          <a:p>
            <a:pPr algn="ctr"/>
            <a:r>
              <a:rPr lang="en-GB" sz="339">
                <a:solidFill>
                  <a:schemeClr val="bg1"/>
                </a:solidFill>
              </a:rPr>
              <a:t>(2of)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27079451-F321-24FF-E424-B008D4ED14E7}"/>
              </a:ext>
            </a:extLst>
          </p:cNvPr>
          <p:cNvSpPr/>
          <p:nvPr/>
        </p:nvSpPr>
        <p:spPr>
          <a:xfrm>
            <a:off x="1979665" y="1890227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Centrifuge* (2of)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4F9E553D-ADC6-1D84-EF02-CDB88B0E7D92}"/>
              </a:ext>
            </a:extLst>
          </p:cNvPr>
          <p:cNvSpPr/>
          <p:nvPr/>
        </p:nvSpPr>
        <p:spPr>
          <a:xfrm>
            <a:off x="2773404" y="1890227"/>
            <a:ext cx="350382" cy="149896"/>
          </a:xfrm>
          <a:prstGeom prst="roundRect">
            <a:avLst/>
          </a:prstGeom>
          <a:pattFill prst="wdUpDiag">
            <a:fgClr>
              <a:schemeClr val="accent1"/>
            </a:fgClr>
            <a:bgClr>
              <a:schemeClr val="accent5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/>
              <a:t>XL200** </a:t>
            </a:r>
            <a:r>
              <a:rPr lang="en-GB" sz="339" err="1"/>
              <a:t>LiHa</a:t>
            </a:r>
            <a:endParaRPr lang="en-GB" sz="339"/>
          </a:p>
          <a:p>
            <a:pPr algn="ctr"/>
            <a:r>
              <a:rPr lang="en-GB" sz="339"/>
              <a:t>(1of)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3C7F78A-EF21-3834-B2A4-377A1BAE588A}"/>
              </a:ext>
            </a:extLst>
          </p:cNvPr>
          <p:cNvSpPr txBox="1"/>
          <p:nvPr/>
        </p:nvSpPr>
        <p:spPr>
          <a:xfrm>
            <a:off x="1558972" y="1761704"/>
            <a:ext cx="2120218" cy="175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542"/>
              <a:t>Route for Reagents from </a:t>
            </a:r>
            <a:r>
              <a:rPr lang="en-GB" sz="542" err="1"/>
              <a:t>SpectroQ</a:t>
            </a:r>
            <a:endParaRPr lang="en-GB" sz="542"/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7160EF61-47F0-602C-2493-0430344876F1}"/>
              </a:ext>
            </a:extLst>
          </p:cNvPr>
          <p:cNvSpPr/>
          <p:nvPr/>
        </p:nvSpPr>
        <p:spPr>
          <a:xfrm>
            <a:off x="2773404" y="2295043"/>
            <a:ext cx="350382" cy="149896"/>
          </a:xfrm>
          <a:prstGeom prst="roundRect">
            <a:avLst/>
          </a:prstGeom>
          <a:pattFill prst="wdUpDiag">
            <a:fgClr>
              <a:schemeClr val="accent1"/>
            </a:fgClr>
            <a:bgClr>
              <a:schemeClr val="accent5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/>
              <a:t>XL200** </a:t>
            </a:r>
            <a:r>
              <a:rPr lang="en-GB" sz="339" err="1"/>
              <a:t>LiHa</a:t>
            </a:r>
            <a:endParaRPr lang="en-GB" sz="339"/>
          </a:p>
          <a:p>
            <a:pPr algn="ctr"/>
            <a:r>
              <a:rPr lang="en-GB" sz="339"/>
              <a:t>(1of)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594811A-8792-F5EE-658E-199C238AA5FD}"/>
              </a:ext>
            </a:extLst>
          </p:cNvPr>
          <p:cNvSpPr txBox="1"/>
          <p:nvPr/>
        </p:nvSpPr>
        <p:spPr>
          <a:xfrm>
            <a:off x="1858042" y="2067943"/>
            <a:ext cx="2656803" cy="175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542"/>
              <a:t>Route for Mosquito Source Plates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55B9C86F-DA2B-824F-3D62-97DAE58B3665}"/>
              </a:ext>
            </a:extLst>
          </p:cNvPr>
          <p:cNvSpPr/>
          <p:nvPr/>
        </p:nvSpPr>
        <p:spPr>
          <a:xfrm>
            <a:off x="3164678" y="2295042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Sealer </a:t>
            </a:r>
          </a:p>
          <a:p>
            <a:pPr algn="ctr"/>
            <a:r>
              <a:rPr lang="en-GB" sz="339">
                <a:solidFill>
                  <a:schemeClr val="bg1"/>
                </a:solidFill>
              </a:rPr>
              <a:t>(2of)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BEE48E7C-EF70-6A1B-6264-E5D724A97255}"/>
              </a:ext>
            </a:extLst>
          </p:cNvPr>
          <p:cNvSpPr/>
          <p:nvPr/>
        </p:nvSpPr>
        <p:spPr>
          <a:xfrm>
            <a:off x="3933398" y="2295042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Peeler </a:t>
            </a:r>
          </a:p>
          <a:p>
            <a:pPr algn="ctr"/>
            <a:r>
              <a:rPr lang="en-GB" sz="339">
                <a:solidFill>
                  <a:schemeClr val="bg1"/>
                </a:solidFill>
              </a:rPr>
              <a:t>(2of)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761C0077-4A02-0C02-5395-E28F18EFF806}"/>
              </a:ext>
            </a:extLst>
          </p:cNvPr>
          <p:cNvSpPr/>
          <p:nvPr/>
        </p:nvSpPr>
        <p:spPr>
          <a:xfrm>
            <a:off x="4339655" y="2201706"/>
            <a:ext cx="350382" cy="149896"/>
          </a:xfrm>
          <a:prstGeom prst="roundRect">
            <a:avLst/>
          </a:prstGeom>
          <a:pattFill prst="wdUpDiag">
            <a:fgClr>
              <a:schemeClr val="accent1"/>
            </a:fgClr>
            <a:bgClr>
              <a:schemeClr val="accent5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/>
              <a:t>Mosquito Xtal3</a:t>
            </a:r>
          </a:p>
          <a:p>
            <a:pPr algn="ctr"/>
            <a:r>
              <a:rPr lang="en-GB" sz="339"/>
              <a:t>(1of)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A7F17535-4538-6916-9753-EA0552B671DE}"/>
              </a:ext>
            </a:extLst>
          </p:cNvPr>
          <p:cNvSpPr/>
          <p:nvPr/>
        </p:nvSpPr>
        <p:spPr>
          <a:xfrm>
            <a:off x="3549038" y="2295042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Centrifuge* (2of)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71692E85-735C-A656-9665-140BFA52B9EE}"/>
              </a:ext>
            </a:extLst>
          </p:cNvPr>
          <p:cNvSpPr/>
          <p:nvPr/>
        </p:nvSpPr>
        <p:spPr>
          <a:xfrm>
            <a:off x="4339655" y="2371686"/>
            <a:ext cx="350382" cy="149896"/>
          </a:xfrm>
          <a:prstGeom prst="roundRect">
            <a:avLst/>
          </a:prstGeom>
          <a:pattFill prst="wdUpDiag">
            <a:fgClr>
              <a:schemeClr val="accent1"/>
            </a:fgClr>
            <a:bgClr>
              <a:schemeClr val="accent5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/>
              <a:t>Mosquito LCP</a:t>
            </a:r>
          </a:p>
          <a:p>
            <a:pPr algn="ctr"/>
            <a:r>
              <a:rPr lang="en-GB" sz="339"/>
              <a:t>(1of)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5861D4C8-37CD-7C3C-86B1-C8C8C714E853}"/>
              </a:ext>
            </a:extLst>
          </p:cNvPr>
          <p:cNvSpPr/>
          <p:nvPr/>
        </p:nvSpPr>
        <p:spPr>
          <a:xfrm>
            <a:off x="3522028" y="2899875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Plate </a:t>
            </a:r>
            <a:r>
              <a:rPr lang="en-GB" sz="339" err="1">
                <a:solidFill>
                  <a:schemeClr val="bg1"/>
                </a:solidFill>
              </a:rPr>
              <a:t>labeler</a:t>
            </a:r>
            <a:r>
              <a:rPr lang="en-GB" sz="339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GB" sz="339">
                <a:solidFill>
                  <a:schemeClr val="bg1"/>
                </a:solidFill>
              </a:rPr>
              <a:t>(1of)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F53F325E-CEEF-023D-818F-194101BB338A}"/>
              </a:ext>
            </a:extLst>
          </p:cNvPr>
          <p:cNvSpPr/>
          <p:nvPr/>
        </p:nvSpPr>
        <p:spPr>
          <a:xfrm>
            <a:off x="3137669" y="2899875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 err="1">
                <a:solidFill>
                  <a:schemeClr val="bg1"/>
                </a:solidFill>
              </a:rPr>
              <a:t>BenchCel</a:t>
            </a:r>
            <a:r>
              <a:rPr lang="en-GB" sz="339">
                <a:solidFill>
                  <a:schemeClr val="bg1"/>
                </a:solidFill>
              </a:rPr>
              <a:t> (1of)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62C170C0-B40D-CF8C-F5D9-9634F5DACF7A}"/>
              </a:ext>
            </a:extLst>
          </p:cNvPr>
          <p:cNvSpPr/>
          <p:nvPr/>
        </p:nvSpPr>
        <p:spPr>
          <a:xfrm>
            <a:off x="3961860" y="2899875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XL200** </a:t>
            </a:r>
            <a:r>
              <a:rPr lang="en-GB" sz="339" err="1">
                <a:solidFill>
                  <a:schemeClr val="bg1"/>
                </a:solidFill>
              </a:rPr>
              <a:t>LiHa</a:t>
            </a:r>
            <a:endParaRPr lang="en-GB" sz="339">
              <a:solidFill>
                <a:schemeClr val="bg1"/>
              </a:solidFill>
            </a:endParaRPr>
          </a:p>
          <a:p>
            <a:pPr algn="ctr"/>
            <a:r>
              <a:rPr lang="en-GB" sz="339">
                <a:solidFill>
                  <a:schemeClr val="bg1"/>
                </a:solidFill>
              </a:rPr>
              <a:t>(1of)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14457B3A-3277-5FCC-6536-CBF45FC2CCFE}"/>
              </a:ext>
            </a:extLst>
          </p:cNvPr>
          <p:cNvSpPr/>
          <p:nvPr/>
        </p:nvSpPr>
        <p:spPr>
          <a:xfrm>
            <a:off x="4350583" y="2818359"/>
            <a:ext cx="350382" cy="149896"/>
          </a:xfrm>
          <a:prstGeom prst="roundRect">
            <a:avLst/>
          </a:prstGeom>
          <a:pattFill prst="wdUpDiag">
            <a:fgClr>
              <a:schemeClr val="accent1"/>
            </a:fgClr>
            <a:bgClr>
              <a:schemeClr val="accent5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/>
              <a:t>Mosquito Xtal3</a:t>
            </a:r>
          </a:p>
          <a:p>
            <a:pPr algn="ctr"/>
            <a:r>
              <a:rPr lang="en-GB" sz="339"/>
              <a:t>(1of)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EF848FDC-58C9-9F5A-DFDD-A32D25A52D13}"/>
              </a:ext>
            </a:extLst>
          </p:cNvPr>
          <p:cNvSpPr/>
          <p:nvPr/>
        </p:nvSpPr>
        <p:spPr>
          <a:xfrm>
            <a:off x="4350583" y="2988340"/>
            <a:ext cx="350382" cy="149896"/>
          </a:xfrm>
          <a:prstGeom prst="roundRect">
            <a:avLst/>
          </a:prstGeom>
          <a:pattFill prst="wdUpDiag">
            <a:fgClr>
              <a:schemeClr val="accent1"/>
            </a:fgClr>
            <a:bgClr>
              <a:schemeClr val="accent5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/>
              <a:t>Mosquito LCP</a:t>
            </a:r>
          </a:p>
          <a:p>
            <a:pPr algn="ctr"/>
            <a:r>
              <a:rPr lang="en-GB" sz="339"/>
              <a:t>(1of)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A20584ED-ACAD-B2CE-D177-CBDFD1B37B2B}"/>
              </a:ext>
            </a:extLst>
          </p:cNvPr>
          <p:cNvSpPr/>
          <p:nvPr/>
        </p:nvSpPr>
        <p:spPr>
          <a:xfrm>
            <a:off x="4747541" y="2907070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Sealer </a:t>
            </a:r>
          </a:p>
          <a:p>
            <a:pPr algn="ctr"/>
            <a:r>
              <a:rPr lang="en-GB" sz="339">
                <a:solidFill>
                  <a:schemeClr val="bg1"/>
                </a:solidFill>
              </a:rPr>
              <a:t>(2of)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3D745C18-7D57-11B3-F6B1-F740C45EF427}"/>
              </a:ext>
            </a:extLst>
          </p:cNvPr>
          <p:cNvSpPr/>
          <p:nvPr/>
        </p:nvSpPr>
        <p:spPr>
          <a:xfrm>
            <a:off x="6015583" y="2907069"/>
            <a:ext cx="350382" cy="14989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 err="1"/>
              <a:t>SpectroQ</a:t>
            </a:r>
            <a:r>
              <a:rPr lang="en-GB" sz="339"/>
              <a:t> </a:t>
            </a:r>
          </a:p>
          <a:p>
            <a:pPr algn="ctr"/>
            <a:r>
              <a:rPr lang="en-GB" sz="339"/>
              <a:t>(3of)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E1E6F3FB-B037-C062-BDDC-BBDC45314788}"/>
              </a:ext>
            </a:extLst>
          </p:cNvPr>
          <p:cNvSpPr/>
          <p:nvPr/>
        </p:nvSpPr>
        <p:spPr>
          <a:xfrm>
            <a:off x="5131901" y="2907070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Centrifuge* (2of)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A3ED747E-FF0A-4A5A-8E13-D3EC7A6F1497}"/>
              </a:ext>
            </a:extLst>
          </p:cNvPr>
          <p:cNvSpPr/>
          <p:nvPr/>
        </p:nvSpPr>
        <p:spPr>
          <a:xfrm>
            <a:off x="3147505" y="1309596"/>
            <a:ext cx="350382" cy="149896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/>
              <a:t>LN2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5BB92411-5494-761B-1EBA-26700B2D086D}"/>
              </a:ext>
            </a:extLst>
          </p:cNvPr>
          <p:cNvSpPr/>
          <p:nvPr/>
        </p:nvSpPr>
        <p:spPr>
          <a:xfrm>
            <a:off x="3147075" y="1593950"/>
            <a:ext cx="350382" cy="149896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/>
              <a:t>LN2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522A2AA3-543E-BFBE-C441-46379387E667}"/>
              </a:ext>
            </a:extLst>
          </p:cNvPr>
          <p:cNvSpPr/>
          <p:nvPr/>
        </p:nvSpPr>
        <p:spPr>
          <a:xfrm>
            <a:off x="3527759" y="1593950"/>
            <a:ext cx="350382" cy="149896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/>
              <a:t>DFSA STX-280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DC3A3821-668F-D8F7-9148-9AAEF04DD553}"/>
              </a:ext>
            </a:extLst>
          </p:cNvPr>
          <p:cNvSpPr/>
          <p:nvPr/>
        </p:nvSpPr>
        <p:spPr>
          <a:xfrm>
            <a:off x="3523823" y="1309595"/>
            <a:ext cx="350382" cy="149896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/>
              <a:t>Connect (1of)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D7D297A1-6066-431C-BD55-D9E16999233B}"/>
              </a:ext>
            </a:extLst>
          </p:cNvPr>
          <p:cNvSpPr/>
          <p:nvPr/>
        </p:nvSpPr>
        <p:spPr>
          <a:xfrm>
            <a:off x="3899421" y="1307179"/>
            <a:ext cx="350382" cy="149896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/>
              <a:t>ARKTIK </a:t>
            </a:r>
          </a:p>
          <a:p>
            <a:pPr algn="ctr"/>
            <a:r>
              <a:rPr lang="en-GB" sz="339"/>
              <a:t>(1of)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037944CF-B623-8046-5E11-F15B20F4BA0F}"/>
              </a:ext>
            </a:extLst>
          </p:cNvPr>
          <p:cNvSpPr/>
          <p:nvPr/>
        </p:nvSpPr>
        <p:spPr>
          <a:xfrm>
            <a:off x="3164678" y="1891042"/>
            <a:ext cx="350382" cy="149896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/>
              <a:t>Sealer/Capper </a:t>
            </a:r>
          </a:p>
          <a:p>
            <a:pPr algn="ctr"/>
            <a:r>
              <a:rPr lang="en-GB" sz="339"/>
              <a:t>(2of)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808E98DD-082F-290B-7729-584BFEF55D5B}"/>
              </a:ext>
            </a:extLst>
          </p:cNvPr>
          <p:cNvSpPr/>
          <p:nvPr/>
        </p:nvSpPr>
        <p:spPr>
          <a:xfrm>
            <a:off x="3549038" y="1891042"/>
            <a:ext cx="350382" cy="149896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 err="1"/>
              <a:t>SpectroQ</a:t>
            </a:r>
            <a:r>
              <a:rPr lang="en-GB" sz="339"/>
              <a:t> (3of)</a:t>
            </a:r>
          </a:p>
        </p:txBody>
      </p:sp>
      <p:cxnSp>
        <p:nvCxnSpPr>
          <p:cNvPr id="95" name="Elbow Connector 94">
            <a:extLst>
              <a:ext uri="{FF2B5EF4-FFF2-40B4-BE49-F238E27FC236}">
                <a16:creationId xmlns:a16="http://schemas.microsoft.com/office/drawing/2014/main" id="{5B7BAD09-14D2-ED3F-3E0A-F1DAECDACFE2}"/>
              </a:ext>
            </a:extLst>
          </p:cNvPr>
          <p:cNvCxnSpPr>
            <a:stCxn id="75" idx="2"/>
            <a:endCxn id="69" idx="2"/>
          </p:cNvCxnSpPr>
          <p:nvPr/>
        </p:nvCxnSpPr>
        <p:spPr>
          <a:xfrm rot="5400000" flipH="1">
            <a:off x="3693399" y="1700136"/>
            <a:ext cx="76643" cy="1566251"/>
          </a:xfrm>
          <a:prstGeom prst="bentConnector3">
            <a:avLst>
              <a:gd name="adj1" fmla="val -15073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27DE20E4-47AE-E5FD-01A3-BC51E3568534}"/>
              </a:ext>
            </a:extLst>
          </p:cNvPr>
          <p:cNvSpPr txBox="1"/>
          <p:nvPr/>
        </p:nvSpPr>
        <p:spPr>
          <a:xfrm>
            <a:off x="3034973" y="2516091"/>
            <a:ext cx="1393494" cy="175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542"/>
              <a:t>batch mode</a:t>
            </a:r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9CA0456C-4485-4D99-DFDA-B924C5DE60A5}"/>
              </a:ext>
            </a:extLst>
          </p:cNvPr>
          <p:cNvSpPr/>
          <p:nvPr/>
        </p:nvSpPr>
        <p:spPr>
          <a:xfrm>
            <a:off x="6437194" y="2907069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Peeler </a:t>
            </a:r>
          </a:p>
          <a:p>
            <a:pPr algn="ctr"/>
            <a:r>
              <a:rPr lang="en-GB" sz="339">
                <a:solidFill>
                  <a:schemeClr val="bg1"/>
                </a:solidFill>
              </a:rPr>
              <a:t>(2of)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575A375D-141E-378D-5343-B101F3E8B787}"/>
              </a:ext>
            </a:extLst>
          </p:cNvPr>
          <p:cNvSpPr/>
          <p:nvPr/>
        </p:nvSpPr>
        <p:spPr>
          <a:xfrm>
            <a:off x="6818876" y="2905374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Echo </a:t>
            </a:r>
          </a:p>
          <a:p>
            <a:pPr algn="ctr"/>
            <a:r>
              <a:rPr lang="en-GB" sz="339">
                <a:solidFill>
                  <a:schemeClr val="bg1"/>
                </a:solidFill>
              </a:rPr>
              <a:t>(2of)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64876F59-7EF2-507D-0013-D3412CD652F2}"/>
              </a:ext>
            </a:extLst>
          </p:cNvPr>
          <p:cNvSpPr/>
          <p:nvPr/>
        </p:nvSpPr>
        <p:spPr>
          <a:xfrm>
            <a:off x="7200558" y="2905374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Sealer </a:t>
            </a:r>
          </a:p>
          <a:p>
            <a:pPr algn="ctr"/>
            <a:r>
              <a:rPr lang="en-GB" sz="339">
                <a:solidFill>
                  <a:schemeClr val="bg1"/>
                </a:solidFill>
              </a:rPr>
              <a:t>(2of)</a:t>
            </a: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8BE86559-F06B-C17F-7A8E-2BF8B6F8BD5A}"/>
              </a:ext>
            </a:extLst>
          </p:cNvPr>
          <p:cNvSpPr/>
          <p:nvPr/>
        </p:nvSpPr>
        <p:spPr>
          <a:xfrm>
            <a:off x="8730124" y="2905374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Peeler </a:t>
            </a:r>
          </a:p>
          <a:p>
            <a:pPr algn="ctr"/>
            <a:r>
              <a:rPr lang="en-GB" sz="339">
                <a:solidFill>
                  <a:schemeClr val="bg1"/>
                </a:solidFill>
              </a:rPr>
              <a:t>(2of)</a:t>
            </a:r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E03D3B06-A3F7-C11E-430D-0D315E189342}"/>
              </a:ext>
            </a:extLst>
          </p:cNvPr>
          <p:cNvSpPr/>
          <p:nvPr/>
        </p:nvSpPr>
        <p:spPr>
          <a:xfrm>
            <a:off x="9634860" y="2884270"/>
            <a:ext cx="350382" cy="149896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/>
              <a:t>Sealer </a:t>
            </a:r>
          </a:p>
          <a:p>
            <a:pPr algn="ctr"/>
            <a:r>
              <a:rPr lang="en-GB" sz="339"/>
              <a:t>(2of)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1CE0D5C8-D121-3714-2B1A-5EA74FD1727C}"/>
              </a:ext>
            </a:extLst>
          </p:cNvPr>
          <p:cNvSpPr/>
          <p:nvPr/>
        </p:nvSpPr>
        <p:spPr>
          <a:xfrm>
            <a:off x="10013066" y="2884270"/>
            <a:ext cx="350382" cy="149896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 err="1"/>
              <a:t>SpectroQ</a:t>
            </a:r>
            <a:r>
              <a:rPr lang="en-GB" sz="339"/>
              <a:t> </a:t>
            </a:r>
          </a:p>
          <a:p>
            <a:pPr algn="ctr"/>
            <a:r>
              <a:rPr lang="en-GB" sz="339"/>
              <a:t>(3of)</a:t>
            </a: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1784A72E-8653-AEF3-05DB-9CB320FEBA5F}"/>
              </a:ext>
            </a:extLst>
          </p:cNvPr>
          <p:cNvSpPr/>
          <p:nvPr/>
        </p:nvSpPr>
        <p:spPr>
          <a:xfrm>
            <a:off x="4732406" y="2295042"/>
            <a:ext cx="350382" cy="149896"/>
          </a:xfrm>
          <a:prstGeom prst="roundRect">
            <a:avLst>
              <a:gd name="adj" fmla="val 50000"/>
            </a:avLst>
          </a:prstGeom>
          <a:solidFill>
            <a:srgbClr val="FFFC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rgbClr val="FF0000"/>
                </a:solidFill>
              </a:rPr>
              <a:t>Waste</a:t>
            </a:r>
          </a:p>
        </p:txBody>
      </p: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3776FE61-9CDD-C423-F3E7-D8080BFA7F6C}"/>
              </a:ext>
            </a:extLst>
          </p:cNvPr>
          <p:cNvSpPr/>
          <p:nvPr/>
        </p:nvSpPr>
        <p:spPr>
          <a:xfrm>
            <a:off x="609654" y="1595277"/>
            <a:ext cx="350382" cy="14989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/>
              <a:t>MAP (reagents in/out)</a:t>
            </a:r>
          </a:p>
        </p:txBody>
      </p:sp>
      <p:cxnSp>
        <p:nvCxnSpPr>
          <p:cNvPr id="124" name="Elbow Connector 123">
            <a:extLst>
              <a:ext uri="{FF2B5EF4-FFF2-40B4-BE49-F238E27FC236}">
                <a16:creationId xmlns:a16="http://schemas.microsoft.com/office/drawing/2014/main" id="{DA5F20EA-BC0A-C0A5-2CCE-B1DDADF8BE2C}"/>
              </a:ext>
            </a:extLst>
          </p:cNvPr>
          <p:cNvCxnSpPr>
            <a:cxnSpLocks/>
            <a:stCxn id="123" idx="0"/>
            <a:endCxn id="51" idx="1"/>
          </p:cNvCxnSpPr>
          <p:nvPr/>
        </p:nvCxnSpPr>
        <p:spPr>
          <a:xfrm rot="5400000" flipH="1" flipV="1">
            <a:off x="1075959" y="1089281"/>
            <a:ext cx="214886" cy="79710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Elbow Connector 134">
            <a:extLst>
              <a:ext uri="{FF2B5EF4-FFF2-40B4-BE49-F238E27FC236}">
                <a16:creationId xmlns:a16="http://schemas.microsoft.com/office/drawing/2014/main" id="{849631A5-4184-F880-DDDA-2EEA7F6643C4}"/>
              </a:ext>
            </a:extLst>
          </p:cNvPr>
          <p:cNvCxnSpPr>
            <a:cxnSpLocks/>
            <a:stCxn id="123" idx="2"/>
          </p:cNvCxnSpPr>
          <p:nvPr/>
        </p:nvCxnSpPr>
        <p:spPr>
          <a:xfrm rot="16200000" flipH="1">
            <a:off x="1071952" y="1458066"/>
            <a:ext cx="214659" cy="78887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Elbow Connector 135">
            <a:extLst>
              <a:ext uri="{FF2B5EF4-FFF2-40B4-BE49-F238E27FC236}">
                <a16:creationId xmlns:a16="http://schemas.microsoft.com/office/drawing/2014/main" id="{0F9B2981-72B2-4D0C-C271-756679412972}"/>
              </a:ext>
            </a:extLst>
          </p:cNvPr>
          <p:cNvCxnSpPr>
            <a:cxnSpLocks/>
            <a:stCxn id="123" idx="3"/>
            <a:endCxn id="56" idx="1"/>
          </p:cNvCxnSpPr>
          <p:nvPr/>
        </p:nvCxnSpPr>
        <p:spPr>
          <a:xfrm flipV="1">
            <a:off x="960036" y="1668900"/>
            <a:ext cx="220658" cy="13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Elbow Connector 140">
            <a:extLst>
              <a:ext uri="{FF2B5EF4-FFF2-40B4-BE49-F238E27FC236}">
                <a16:creationId xmlns:a16="http://schemas.microsoft.com/office/drawing/2014/main" id="{2484ACFA-4473-2B59-9104-0BACE0B14F27}"/>
              </a:ext>
            </a:extLst>
          </p:cNvPr>
          <p:cNvCxnSpPr>
            <a:cxnSpLocks/>
            <a:stCxn id="123" idx="2"/>
            <a:endCxn id="231" idx="1"/>
          </p:cNvCxnSpPr>
          <p:nvPr/>
        </p:nvCxnSpPr>
        <p:spPr>
          <a:xfrm rot="16200000" flipH="1">
            <a:off x="2341156" y="188862"/>
            <a:ext cx="1773550" cy="488617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9A5C243F-0B38-FA43-9F72-42F3CD88C4ED}"/>
              </a:ext>
            </a:extLst>
          </p:cNvPr>
          <p:cNvSpPr txBox="1"/>
          <p:nvPr/>
        </p:nvSpPr>
        <p:spPr>
          <a:xfrm>
            <a:off x="9172360" y="3898527"/>
            <a:ext cx="715944" cy="186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610"/>
              <a:t>Route for Pins</a:t>
            </a:r>
          </a:p>
        </p:txBody>
      </p:sp>
      <p:sp>
        <p:nvSpPr>
          <p:cNvPr id="148" name="Rounded Rectangle 147">
            <a:extLst>
              <a:ext uri="{FF2B5EF4-FFF2-40B4-BE49-F238E27FC236}">
                <a16:creationId xmlns:a16="http://schemas.microsoft.com/office/drawing/2014/main" id="{23BB6208-521B-6BFB-1B8E-F22C177DB835}"/>
              </a:ext>
            </a:extLst>
          </p:cNvPr>
          <p:cNvSpPr/>
          <p:nvPr/>
        </p:nvSpPr>
        <p:spPr>
          <a:xfrm>
            <a:off x="9174171" y="4054871"/>
            <a:ext cx="350382" cy="149896"/>
          </a:xfrm>
          <a:prstGeom prst="roundRect">
            <a:avLst/>
          </a:prstGeom>
          <a:pattFill prst="wdUpDiag">
            <a:fgClr>
              <a:schemeClr val="accent1"/>
            </a:fgClr>
            <a:bgClr>
              <a:schemeClr val="accent5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/>
              <a:t>X-ACT</a:t>
            </a:r>
          </a:p>
          <a:p>
            <a:pPr algn="ctr"/>
            <a:r>
              <a:rPr lang="en-GB" sz="339"/>
              <a:t>(6of)</a:t>
            </a:r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60E0A316-4F41-2973-BB01-85251038D1D2}"/>
              </a:ext>
            </a:extLst>
          </p:cNvPr>
          <p:cNvSpPr/>
          <p:nvPr/>
        </p:nvSpPr>
        <p:spPr>
          <a:xfrm>
            <a:off x="9614751" y="4054871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Vitrification </a:t>
            </a:r>
          </a:p>
        </p:txBody>
      </p: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9ED728F4-ED2C-ECBE-9780-C454A200F7F5}"/>
              </a:ext>
            </a:extLst>
          </p:cNvPr>
          <p:cNvSpPr/>
          <p:nvPr/>
        </p:nvSpPr>
        <p:spPr>
          <a:xfrm>
            <a:off x="10008049" y="4054871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Puck Storage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65D26A48-DF01-F581-1E26-DBE95F635A19}"/>
              </a:ext>
            </a:extLst>
          </p:cNvPr>
          <p:cNvSpPr txBox="1"/>
          <p:nvPr/>
        </p:nvSpPr>
        <p:spPr>
          <a:xfrm>
            <a:off x="9177062" y="4555964"/>
            <a:ext cx="1094467" cy="186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610"/>
              <a:t>Route for Seed Tubes</a:t>
            </a:r>
          </a:p>
        </p:txBody>
      </p: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D569F0E1-AF13-F913-493C-1179A504756E}"/>
              </a:ext>
            </a:extLst>
          </p:cNvPr>
          <p:cNvSpPr/>
          <p:nvPr/>
        </p:nvSpPr>
        <p:spPr>
          <a:xfrm>
            <a:off x="9174171" y="4693175"/>
            <a:ext cx="350382" cy="149896"/>
          </a:xfrm>
          <a:prstGeom prst="roundRect">
            <a:avLst/>
          </a:prstGeom>
          <a:pattFill prst="wdUpDiag">
            <a:fgClr>
              <a:schemeClr val="accent1"/>
            </a:fgClr>
            <a:bgClr>
              <a:schemeClr val="accent5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/>
              <a:t>X-ACT</a:t>
            </a:r>
          </a:p>
          <a:p>
            <a:pPr algn="ctr"/>
            <a:r>
              <a:rPr lang="en-GB" sz="339"/>
              <a:t>(6of)</a:t>
            </a:r>
          </a:p>
        </p:txBody>
      </p:sp>
      <p:sp>
        <p:nvSpPr>
          <p:cNvPr id="155" name="Rounded Rectangle 154">
            <a:extLst>
              <a:ext uri="{FF2B5EF4-FFF2-40B4-BE49-F238E27FC236}">
                <a16:creationId xmlns:a16="http://schemas.microsoft.com/office/drawing/2014/main" id="{FD1C1DA7-8AC4-0D47-70A2-BD0DAA9EFBE4}"/>
              </a:ext>
            </a:extLst>
          </p:cNvPr>
          <p:cNvSpPr/>
          <p:nvPr/>
        </p:nvSpPr>
        <p:spPr>
          <a:xfrm>
            <a:off x="10396648" y="4691807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XL200 </a:t>
            </a:r>
          </a:p>
        </p:txBody>
      </p:sp>
      <p:sp>
        <p:nvSpPr>
          <p:cNvPr id="156" name="Rounded Rectangle 155">
            <a:extLst>
              <a:ext uri="{FF2B5EF4-FFF2-40B4-BE49-F238E27FC236}">
                <a16:creationId xmlns:a16="http://schemas.microsoft.com/office/drawing/2014/main" id="{2DE60D78-A319-4934-4CF5-5A32A5CD1618}"/>
              </a:ext>
            </a:extLst>
          </p:cNvPr>
          <p:cNvSpPr/>
          <p:nvPr/>
        </p:nvSpPr>
        <p:spPr>
          <a:xfrm>
            <a:off x="10809434" y="4690090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 err="1">
                <a:solidFill>
                  <a:schemeClr val="bg1"/>
                </a:solidFill>
              </a:rPr>
              <a:t>SpectroQ</a:t>
            </a:r>
            <a:r>
              <a:rPr lang="en-GB" sz="339">
                <a:solidFill>
                  <a:schemeClr val="bg1"/>
                </a:solidFill>
              </a:rPr>
              <a:t> (3 of)</a:t>
            </a:r>
          </a:p>
        </p:txBody>
      </p:sp>
      <p:sp>
        <p:nvSpPr>
          <p:cNvPr id="157" name="Rounded Rectangle 156">
            <a:extLst>
              <a:ext uri="{FF2B5EF4-FFF2-40B4-BE49-F238E27FC236}">
                <a16:creationId xmlns:a16="http://schemas.microsoft.com/office/drawing/2014/main" id="{1D31F8EB-DAD2-31D8-EF26-DB04AD580E15}"/>
              </a:ext>
            </a:extLst>
          </p:cNvPr>
          <p:cNvSpPr/>
          <p:nvPr/>
        </p:nvSpPr>
        <p:spPr>
          <a:xfrm>
            <a:off x="11218940" y="4887083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 err="1">
                <a:solidFill>
                  <a:schemeClr val="bg1"/>
                </a:solidFill>
              </a:rPr>
              <a:t>Arktik</a:t>
            </a:r>
            <a:r>
              <a:rPr lang="en-GB" sz="339">
                <a:solidFill>
                  <a:schemeClr val="bg1"/>
                </a:solidFill>
              </a:rPr>
              <a:t> (1 of)</a:t>
            </a:r>
          </a:p>
        </p:txBody>
      </p:sp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758B1CFE-DB8A-4BE8-0926-9B98E4A34234}"/>
              </a:ext>
            </a:extLst>
          </p:cNvPr>
          <p:cNvSpPr/>
          <p:nvPr/>
        </p:nvSpPr>
        <p:spPr>
          <a:xfrm>
            <a:off x="11218940" y="5047727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DFSA (1 of)</a:t>
            </a:r>
          </a:p>
        </p:txBody>
      </p:sp>
      <p:sp>
        <p:nvSpPr>
          <p:cNvPr id="160" name="Rounded Rectangle 159">
            <a:extLst>
              <a:ext uri="{FF2B5EF4-FFF2-40B4-BE49-F238E27FC236}">
                <a16:creationId xmlns:a16="http://schemas.microsoft.com/office/drawing/2014/main" id="{62001D07-15DD-11D2-D5E7-9675B5BF1942}"/>
              </a:ext>
            </a:extLst>
          </p:cNvPr>
          <p:cNvSpPr/>
          <p:nvPr/>
        </p:nvSpPr>
        <p:spPr>
          <a:xfrm>
            <a:off x="10809434" y="4954016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Vitrification </a:t>
            </a:r>
          </a:p>
        </p:txBody>
      </p:sp>
      <p:cxnSp>
        <p:nvCxnSpPr>
          <p:cNvPr id="161" name="Elbow Connector 160">
            <a:extLst>
              <a:ext uri="{FF2B5EF4-FFF2-40B4-BE49-F238E27FC236}">
                <a16:creationId xmlns:a16="http://schemas.microsoft.com/office/drawing/2014/main" id="{4666E523-9CC1-B86D-7384-6214805DE7D6}"/>
              </a:ext>
            </a:extLst>
          </p:cNvPr>
          <p:cNvCxnSpPr>
            <a:cxnSpLocks/>
            <a:stCxn id="155" idx="2"/>
            <a:endCxn id="160" idx="1"/>
          </p:cNvCxnSpPr>
          <p:nvPr/>
        </p:nvCxnSpPr>
        <p:spPr>
          <a:xfrm rot="16200000" flipH="1">
            <a:off x="10597007" y="4816536"/>
            <a:ext cx="187260" cy="23759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Rounded Rectangle 164">
            <a:extLst>
              <a:ext uri="{FF2B5EF4-FFF2-40B4-BE49-F238E27FC236}">
                <a16:creationId xmlns:a16="http://schemas.microsoft.com/office/drawing/2014/main" id="{6F59802F-B713-60DC-C0C6-78D57D4581EB}"/>
              </a:ext>
            </a:extLst>
          </p:cNvPr>
          <p:cNvSpPr/>
          <p:nvPr/>
        </p:nvSpPr>
        <p:spPr>
          <a:xfrm>
            <a:off x="9608586" y="4694898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XL200 </a:t>
            </a:r>
          </a:p>
        </p:txBody>
      </p: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2A4CFB5C-E251-3E6C-0400-86C363EA2043}"/>
              </a:ext>
            </a:extLst>
          </p:cNvPr>
          <p:cNvSpPr/>
          <p:nvPr/>
        </p:nvSpPr>
        <p:spPr>
          <a:xfrm>
            <a:off x="10000526" y="4694813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Centrifuge* (2of)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A4B501C3-F106-7DE9-0B09-1DACF0715DED}"/>
              </a:ext>
            </a:extLst>
          </p:cNvPr>
          <p:cNvSpPr txBox="1"/>
          <p:nvPr/>
        </p:nvSpPr>
        <p:spPr>
          <a:xfrm>
            <a:off x="9176400" y="4222436"/>
            <a:ext cx="715944" cy="28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610"/>
              <a:t>Route for Plates</a:t>
            </a:r>
          </a:p>
        </p:txBody>
      </p:sp>
      <p:sp>
        <p:nvSpPr>
          <p:cNvPr id="171" name="Rounded Rectangle 170">
            <a:extLst>
              <a:ext uri="{FF2B5EF4-FFF2-40B4-BE49-F238E27FC236}">
                <a16:creationId xmlns:a16="http://schemas.microsoft.com/office/drawing/2014/main" id="{6462211B-76EC-ADCA-E0D2-C8B02389B0CC}"/>
              </a:ext>
            </a:extLst>
          </p:cNvPr>
          <p:cNvSpPr/>
          <p:nvPr/>
        </p:nvSpPr>
        <p:spPr>
          <a:xfrm>
            <a:off x="9174171" y="4378780"/>
            <a:ext cx="350382" cy="149896"/>
          </a:xfrm>
          <a:prstGeom prst="roundRect">
            <a:avLst/>
          </a:prstGeom>
          <a:pattFill prst="wdUpDiag">
            <a:fgClr>
              <a:schemeClr val="accent1"/>
            </a:fgClr>
            <a:bgClr>
              <a:schemeClr val="accent5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/>
              <a:t>X-ACT</a:t>
            </a:r>
          </a:p>
          <a:p>
            <a:pPr algn="ctr"/>
            <a:r>
              <a:rPr lang="en-GB" sz="339"/>
              <a:t>(6of)</a:t>
            </a:r>
          </a:p>
        </p:txBody>
      </p:sp>
      <p:sp>
        <p:nvSpPr>
          <p:cNvPr id="172" name="Rounded Rectangle 171">
            <a:extLst>
              <a:ext uri="{FF2B5EF4-FFF2-40B4-BE49-F238E27FC236}">
                <a16:creationId xmlns:a16="http://schemas.microsoft.com/office/drawing/2014/main" id="{4C885415-5D26-A2A7-C652-0E8966A1AA18}"/>
              </a:ext>
            </a:extLst>
          </p:cNvPr>
          <p:cNvSpPr/>
          <p:nvPr/>
        </p:nvSpPr>
        <p:spPr>
          <a:xfrm>
            <a:off x="9611563" y="4378780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Sealer </a:t>
            </a:r>
          </a:p>
          <a:p>
            <a:pPr algn="ctr"/>
            <a:r>
              <a:rPr lang="en-GB" sz="339">
                <a:solidFill>
                  <a:schemeClr val="bg1"/>
                </a:solidFill>
              </a:rPr>
              <a:t>(2of)</a:t>
            </a:r>
          </a:p>
        </p:txBody>
      </p:sp>
      <p:sp>
        <p:nvSpPr>
          <p:cNvPr id="173" name="Rounded Rectangle 172">
            <a:extLst>
              <a:ext uri="{FF2B5EF4-FFF2-40B4-BE49-F238E27FC236}">
                <a16:creationId xmlns:a16="http://schemas.microsoft.com/office/drawing/2014/main" id="{07C1A935-9616-1366-A0BB-CA857A8BE110}"/>
              </a:ext>
            </a:extLst>
          </p:cNvPr>
          <p:cNvSpPr/>
          <p:nvPr/>
        </p:nvSpPr>
        <p:spPr>
          <a:xfrm>
            <a:off x="10008049" y="4366722"/>
            <a:ext cx="350382" cy="14989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 err="1"/>
              <a:t>SpectroQ</a:t>
            </a:r>
            <a:r>
              <a:rPr lang="en-GB" sz="339"/>
              <a:t> </a:t>
            </a:r>
          </a:p>
          <a:p>
            <a:pPr algn="ctr"/>
            <a:r>
              <a:rPr lang="en-GB" sz="339"/>
              <a:t>(3of)</a:t>
            </a:r>
          </a:p>
        </p:txBody>
      </p:sp>
      <p:sp>
        <p:nvSpPr>
          <p:cNvPr id="174" name="Rounded Rectangle 173">
            <a:extLst>
              <a:ext uri="{FF2B5EF4-FFF2-40B4-BE49-F238E27FC236}">
                <a16:creationId xmlns:a16="http://schemas.microsoft.com/office/drawing/2014/main" id="{1E0DB2AC-1EAA-C84A-8E1D-35469C9AFBC9}"/>
              </a:ext>
            </a:extLst>
          </p:cNvPr>
          <p:cNvSpPr/>
          <p:nvPr/>
        </p:nvSpPr>
        <p:spPr>
          <a:xfrm>
            <a:off x="10954042" y="4054871"/>
            <a:ext cx="350382" cy="14989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/>
              <a:t>MAP (pucks in/out)</a:t>
            </a:r>
          </a:p>
        </p:txBody>
      </p:sp>
      <p:cxnSp>
        <p:nvCxnSpPr>
          <p:cNvPr id="175" name="Elbow Connector 174">
            <a:extLst>
              <a:ext uri="{FF2B5EF4-FFF2-40B4-BE49-F238E27FC236}">
                <a16:creationId xmlns:a16="http://schemas.microsoft.com/office/drawing/2014/main" id="{313D1317-6EEF-54E3-9DB3-D4E8F886A2EA}"/>
              </a:ext>
            </a:extLst>
          </p:cNvPr>
          <p:cNvCxnSpPr>
            <a:cxnSpLocks/>
            <a:stCxn id="174" idx="1"/>
            <a:endCxn id="152" idx="3"/>
          </p:cNvCxnSpPr>
          <p:nvPr/>
        </p:nvCxnSpPr>
        <p:spPr>
          <a:xfrm rot="10800000">
            <a:off x="10358432" y="4129819"/>
            <a:ext cx="595611" cy="86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0B35FAAE-1EC3-4D15-5473-0643F170E444}"/>
              </a:ext>
            </a:extLst>
          </p:cNvPr>
          <p:cNvGrpSpPr/>
          <p:nvPr/>
        </p:nvGrpSpPr>
        <p:grpSpPr>
          <a:xfrm>
            <a:off x="827716" y="5466546"/>
            <a:ext cx="1813682" cy="176451"/>
            <a:chOff x="2329499" y="6228441"/>
            <a:chExt cx="2677778" cy="260518"/>
          </a:xfrm>
        </p:grpSpPr>
        <p:sp>
          <p:nvSpPr>
            <p:cNvPr id="184" name="Rounded Rectangle 183">
              <a:extLst>
                <a:ext uri="{FF2B5EF4-FFF2-40B4-BE49-F238E27FC236}">
                  <a16:creationId xmlns:a16="http://schemas.microsoft.com/office/drawing/2014/main" id="{CBDA3A69-BCC8-E69D-99D2-BDD4CE3E9B85}"/>
                </a:ext>
              </a:extLst>
            </p:cNvPr>
            <p:cNvSpPr/>
            <p:nvPr/>
          </p:nvSpPr>
          <p:spPr>
            <a:xfrm>
              <a:off x="2329499" y="6242737"/>
              <a:ext cx="248601" cy="246222"/>
            </a:xfrm>
            <a:prstGeom prst="roundRect">
              <a:avLst/>
            </a:prstGeom>
            <a:solidFill>
              <a:srgbClr val="FFD579"/>
            </a:solidFill>
            <a:ln>
              <a:solidFill>
                <a:srgbClr val="FFC000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2555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5109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7664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021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12773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3532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57882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80437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948"/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9248EBEB-6C55-E333-DD2D-B094472E4C5B}"/>
                </a:ext>
              </a:extLst>
            </p:cNvPr>
            <p:cNvSpPr txBox="1"/>
            <p:nvPr/>
          </p:nvSpPr>
          <p:spPr>
            <a:xfrm>
              <a:off x="2584287" y="6228441"/>
              <a:ext cx="24229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2555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5109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7664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021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12773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3532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57882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80437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77">
                  <a:latin typeface="Century Gothic" panose="020B0502020202020204" pitchFamily="34" charset="0"/>
                </a:rPr>
                <a:t>Convergence points</a:t>
              </a:r>
            </a:p>
          </p:txBody>
        </p:sp>
      </p:grpSp>
      <p:sp>
        <p:nvSpPr>
          <p:cNvPr id="189" name="Rounded Rectangle 188">
            <a:extLst>
              <a:ext uri="{FF2B5EF4-FFF2-40B4-BE49-F238E27FC236}">
                <a16:creationId xmlns:a16="http://schemas.microsoft.com/office/drawing/2014/main" id="{1320A431-7ADB-059D-F80D-5CBD6B17F469}"/>
              </a:ext>
            </a:extLst>
          </p:cNvPr>
          <p:cNvSpPr/>
          <p:nvPr/>
        </p:nvSpPr>
        <p:spPr>
          <a:xfrm>
            <a:off x="5516262" y="2721435"/>
            <a:ext cx="4934188" cy="1148485"/>
          </a:xfrm>
          <a:prstGeom prst="roundRect">
            <a:avLst/>
          </a:prstGeom>
          <a:noFill/>
          <a:ln>
            <a:solidFill>
              <a:srgbClr val="0432FF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948"/>
          </a:p>
        </p:txBody>
      </p:sp>
      <p:sp>
        <p:nvSpPr>
          <p:cNvPr id="192" name="Rounded Rectangle 191">
            <a:extLst>
              <a:ext uri="{FF2B5EF4-FFF2-40B4-BE49-F238E27FC236}">
                <a16:creationId xmlns:a16="http://schemas.microsoft.com/office/drawing/2014/main" id="{C9C7D5BC-450D-1119-07D5-43C4EE460390}"/>
              </a:ext>
            </a:extLst>
          </p:cNvPr>
          <p:cNvSpPr/>
          <p:nvPr/>
        </p:nvSpPr>
        <p:spPr>
          <a:xfrm>
            <a:off x="7607303" y="2913392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Pre-Soak Imaging</a:t>
            </a:r>
          </a:p>
        </p:txBody>
      </p:sp>
      <p:sp>
        <p:nvSpPr>
          <p:cNvPr id="193" name="Rounded Rectangle 192">
            <a:extLst>
              <a:ext uri="{FF2B5EF4-FFF2-40B4-BE49-F238E27FC236}">
                <a16:creationId xmlns:a16="http://schemas.microsoft.com/office/drawing/2014/main" id="{E68324CD-F4FD-5348-E792-93F1999A08F4}"/>
              </a:ext>
            </a:extLst>
          </p:cNvPr>
          <p:cNvSpPr/>
          <p:nvPr/>
        </p:nvSpPr>
        <p:spPr>
          <a:xfrm>
            <a:off x="7965044" y="2913392"/>
            <a:ext cx="350382" cy="14989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/>
              <a:t>Incubation</a:t>
            </a:r>
          </a:p>
        </p:txBody>
      </p:sp>
      <p:sp>
        <p:nvSpPr>
          <p:cNvPr id="194" name="Rounded Rectangle 193">
            <a:extLst>
              <a:ext uri="{FF2B5EF4-FFF2-40B4-BE49-F238E27FC236}">
                <a16:creationId xmlns:a16="http://schemas.microsoft.com/office/drawing/2014/main" id="{7726F326-F102-2AD1-99F8-C4B9F082F2B7}"/>
              </a:ext>
            </a:extLst>
          </p:cNvPr>
          <p:cNvSpPr/>
          <p:nvPr/>
        </p:nvSpPr>
        <p:spPr>
          <a:xfrm>
            <a:off x="8319548" y="2913392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Post Soak Imaging</a:t>
            </a:r>
          </a:p>
        </p:txBody>
      </p:sp>
      <p:sp>
        <p:nvSpPr>
          <p:cNvPr id="225" name="Rounded Rectangle 224">
            <a:extLst>
              <a:ext uri="{FF2B5EF4-FFF2-40B4-BE49-F238E27FC236}">
                <a16:creationId xmlns:a16="http://schemas.microsoft.com/office/drawing/2014/main" id="{5B534F50-5145-D630-92AD-4E2A9B954C67}"/>
              </a:ext>
            </a:extLst>
          </p:cNvPr>
          <p:cNvSpPr/>
          <p:nvPr/>
        </p:nvSpPr>
        <p:spPr>
          <a:xfrm>
            <a:off x="9038379" y="4583036"/>
            <a:ext cx="2630140" cy="743313"/>
          </a:xfrm>
          <a:prstGeom prst="roundRect">
            <a:avLst/>
          </a:prstGeom>
          <a:noFill/>
          <a:ln>
            <a:solidFill>
              <a:srgbClr val="FF26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948"/>
          </a:p>
        </p:txBody>
      </p:sp>
      <p:sp>
        <p:nvSpPr>
          <p:cNvPr id="229" name="Rounded Rectangle 228">
            <a:extLst>
              <a:ext uri="{FF2B5EF4-FFF2-40B4-BE49-F238E27FC236}">
                <a16:creationId xmlns:a16="http://schemas.microsoft.com/office/drawing/2014/main" id="{A955B19C-557C-82B7-FB90-340D1FAC9ECA}"/>
              </a:ext>
            </a:extLst>
          </p:cNvPr>
          <p:cNvSpPr/>
          <p:nvPr/>
        </p:nvSpPr>
        <p:spPr>
          <a:xfrm>
            <a:off x="9185498" y="2893308"/>
            <a:ext cx="350382" cy="149896"/>
          </a:xfrm>
          <a:prstGeom prst="roundRect">
            <a:avLst/>
          </a:prstGeom>
          <a:pattFill prst="wdUpDiag">
            <a:fgClr>
              <a:schemeClr val="accent1"/>
            </a:fgClr>
            <a:bgClr>
              <a:schemeClr val="accent5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/>
              <a:t>X-ACT</a:t>
            </a:r>
          </a:p>
          <a:p>
            <a:pPr algn="ctr"/>
            <a:r>
              <a:rPr lang="en-GB" sz="339"/>
              <a:t>(6of)</a:t>
            </a:r>
          </a:p>
        </p:txBody>
      </p:sp>
      <p:sp>
        <p:nvSpPr>
          <p:cNvPr id="231" name="Rounded Rectangle 230">
            <a:extLst>
              <a:ext uri="{FF2B5EF4-FFF2-40B4-BE49-F238E27FC236}">
                <a16:creationId xmlns:a16="http://schemas.microsoft.com/office/drawing/2014/main" id="{20B42A51-3E9C-D172-85B7-26C5EA62938C}"/>
              </a:ext>
            </a:extLst>
          </p:cNvPr>
          <p:cNvSpPr/>
          <p:nvPr/>
        </p:nvSpPr>
        <p:spPr>
          <a:xfrm>
            <a:off x="5671018" y="3443775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DC2SA – N2G</a:t>
            </a:r>
          </a:p>
          <a:p>
            <a:pPr algn="ctr"/>
            <a:r>
              <a:rPr lang="en-GB" sz="339">
                <a:solidFill>
                  <a:schemeClr val="bg1"/>
                </a:solidFill>
              </a:rPr>
              <a:t>(1of)</a:t>
            </a:r>
          </a:p>
        </p:txBody>
      </p:sp>
      <p:sp>
        <p:nvSpPr>
          <p:cNvPr id="232" name="Rounded Rectangle 231">
            <a:extLst>
              <a:ext uri="{FF2B5EF4-FFF2-40B4-BE49-F238E27FC236}">
                <a16:creationId xmlns:a16="http://schemas.microsoft.com/office/drawing/2014/main" id="{B80E98E9-1844-04F6-79F5-2AC172B8A510}"/>
              </a:ext>
            </a:extLst>
          </p:cNvPr>
          <p:cNvSpPr/>
          <p:nvPr/>
        </p:nvSpPr>
        <p:spPr>
          <a:xfrm>
            <a:off x="6439738" y="3443775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Peeler </a:t>
            </a:r>
          </a:p>
          <a:p>
            <a:pPr algn="ctr"/>
            <a:r>
              <a:rPr lang="en-GB" sz="339">
                <a:solidFill>
                  <a:schemeClr val="bg1"/>
                </a:solidFill>
              </a:rPr>
              <a:t>(2of)</a:t>
            </a:r>
          </a:p>
        </p:txBody>
      </p:sp>
      <p:sp>
        <p:nvSpPr>
          <p:cNvPr id="233" name="Rounded Rectangle 232">
            <a:extLst>
              <a:ext uri="{FF2B5EF4-FFF2-40B4-BE49-F238E27FC236}">
                <a16:creationId xmlns:a16="http://schemas.microsoft.com/office/drawing/2014/main" id="{7C58B883-DBE1-ECB2-8594-112777C18793}"/>
              </a:ext>
            </a:extLst>
          </p:cNvPr>
          <p:cNvSpPr/>
          <p:nvPr/>
        </p:nvSpPr>
        <p:spPr>
          <a:xfrm>
            <a:off x="6055378" y="3443775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Centrifuge* (2of)</a:t>
            </a:r>
          </a:p>
        </p:txBody>
      </p:sp>
      <p:sp>
        <p:nvSpPr>
          <p:cNvPr id="234" name="Rounded Rectangle 233">
            <a:extLst>
              <a:ext uri="{FF2B5EF4-FFF2-40B4-BE49-F238E27FC236}">
                <a16:creationId xmlns:a16="http://schemas.microsoft.com/office/drawing/2014/main" id="{4A0C014F-F073-F961-C406-8E1C6ED99663}"/>
              </a:ext>
            </a:extLst>
          </p:cNvPr>
          <p:cNvSpPr/>
          <p:nvPr/>
        </p:nvSpPr>
        <p:spPr>
          <a:xfrm>
            <a:off x="6824097" y="3443774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Echo </a:t>
            </a:r>
          </a:p>
          <a:p>
            <a:pPr algn="ctr"/>
            <a:r>
              <a:rPr lang="en-GB" sz="339">
                <a:solidFill>
                  <a:schemeClr val="bg1"/>
                </a:solidFill>
              </a:rPr>
              <a:t>(2of)</a:t>
            </a:r>
          </a:p>
        </p:txBody>
      </p:sp>
      <p:sp>
        <p:nvSpPr>
          <p:cNvPr id="235" name="Rounded Rectangle 234">
            <a:extLst>
              <a:ext uri="{FF2B5EF4-FFF2-40B4-BE49-F238E27FC236}">
                <a16:creationId xmlns:a16="http://schemas.microsoft.com/office/drawing/2014/main" id="{7D09B953-3927-FED9-6095-EB77FA0B7DCC}"/>
              </a:ext>
            </a:extLst>
          </p:cNvPr>
          <p:cNvSpPr/>
          <p:nvPr/>
        </p:nvSpPr>
        <p:spPr>
          <a:xfrm>
            <a:off x="7189368" y="3443774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 err="1">
                <a:solidFill>
                  <a:schemeClr val="bg1"/>
                </a:solidFill>
              </a:rPr>
              <a:t>PlateLoc</a:t>
            </a:r>
            <a:r>
              <a:rPr lang="en-GB" sz="339">
                <a:solidFill>
                  <a:schemeClr val="bg1"/>
                </a:solidFill>
              </a:rPr>
              <a:t> -Ar2G </a:t>
            </a:r>
          </a:p>
          <a:p>
            <a:pPr algn="ctr"/>
            <a:r>
              <a:rPr lang="en-GB" sz="339">
                <a:solidFill>
                  <a:schemeClr val="bg1"/>
                </a:solidFill>
              </a:rPr>
              <a:t>(2of)</a:t>
            </a:r>
          </a:p>
        </p:txBody>
      </p:sp>
      <p:sp>
        <p:nvSpPr>
          <p:cNvPr id="236" name="Rounded Rectangle 235">
            <a:extLst>
              <a:ext uri="{FF2B5EF4-FFF2-40B4-BE49-F238E27FC236}">
                <a16:creationId xmlns:a16="http://schemas.microsoft.com/office/drawing/2014/main" id="{82DAAB62-E208-6FCF-1711-F088428AD332}"/>
              </a:ext>
            </a:extLst>
          </p:cNvPr>
          <p:cNvSpPr/>
          <p:nvPr/>
        </p:nvSpPr>
        <p:spPr>
          <a:xfrm>
            <a:off x="7573727" y="3443774"/>
            <a:ext cx="350382" cy="1498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39">
                <a:solidFill>
                  <a:schemeClr val="bg1"/>
                </a:solidFill>
              </a:rPr>
              <a:t>DC2SA – N2G</a:t>
            </a:r>
          </a:p>
          <a:p>
            <a:pPr algn="ctr"/>
            <a:r>
              <a:rPr lang="en-GB" sz="339">
                <a:solidFill>
                  <a:schemeClr val="bg1"/>
                </a:solidFill>
              </a:rPr>
              <a:t>(1of)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D4DC1FE9-8D00-CC0F-5D5D-589C95DB9109}"/>
              </a:ext>
            </a:extLst>
          </p:cNvPr>
          <p:cNvSpPr txBox="1"/>
          <p:nvPr/>
        </p:nvSpPr>
        <p:spPr>
          <a:xfrm>
            <a:off x="5645100" y="3300497"/>
            <a:ext cx="1743591" cy="186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610"/>
              <a:t>Route for Compound Plates</a:t>
            </a:r>
          </a:p>
        </p:txBody>
      </p: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1D553FA5-3D6E-B5FB-BA28-96B072E488AC}"/>
              </a:ext>
            </a:extLst>
          </p:cNvPr>
          <p:cNvGrpSpPr/>
          <p:nvPr/>
        </p:nvGrpSpPr>
        <p:grpSpPr>
          <a:xfrm>
            <a:off x="827716" y="5627030"/>
            <a:ext cx="6911426" cy="404919"/>
            <a:chOff x="2329499" y="6145657"/>
            <a:chExt cx="10204252" cy="597837"/>
          </a:xfrm>
        </p:grpSpPr>
        <p:sp>
          <p:nvSpPr>
            <p:cNvPr id="240" name="Rounded Rectangle 239">
              <a:extLst>
                <a:ext uri="{FF2B5EF4-FFF2-40B4-BE49-F238E27FC236}">
                  <a16:creationId xmlns:a16="http://schemas.microsoft.com/office/drawing/2014/main" id="{3B5C99E5-43BE-F001-9CB3-084758B7713C}"/>
                </a:ext>
              </a:extLst>
            </p:cNvPr>
            <p:cNvSpPr/>
            <p:nvPr/>
          </p:nvSpPr>
          <p:spPr>
            <a:xfrm>
              <a:off x="2329499" y="6242737"/>
              <a:ext cx="248601" cy="246222"/>
            </a:xfrm>
            <a:prstGeom prst="round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2555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5109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7664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021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12773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3532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57882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80437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948"/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E2408134-1B1C-6AF8-2396-2E0C66517222}"/>
                </a:ext>
              </a:extLst>
            </p:cNvPr>
            <p:cNvSpPr txBox="1"/>
            <p:nvPr/>
          </p:nvSpPr>
          <p:spPr>
            <a:xfrm>
              <a:off x="2570249" y="6145657"/>
              <a:ext cx="9963502" cy="5978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2555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5109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7664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021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12773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3532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57882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80437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77" err="1">
                  <a:latin typeface="Century Gothic" panose="020B0502020202020204" pitchFamily="34" charset="0"/>
                </a:rPr>
                <a:t>Crystallisation</a:t>
              </a:r>
              <a:r>
                <a:rPr lang="en-US" sz="677">
                  <a:latin typeface="Century Gothic" panose="020B0502020202020204" pitchFamily="34" charset="0"/>
                </a:rPr>
                <a:t> Setup – generates crystal plates in batches, active at during shutdowns and runs. Scheduling of reagents to XL200 needs to be ad-hoc as it is project/reagent-dependent due to stability/temperature/thawing requirements etc. None of which affect the workflow structure and will be handled by software/science schedule</a:t>
              </a:r>
            </a:p>
          </p:txBody>
        </p: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D83D2ACE-E49F-B2AE-4C24-F89375D4A04F}"/>
              </a:ext>
            </a:extLst>
          </p:cNvPr>
          <p:cNvGrpSpPr/>
          <p:nvPr/>
        </p:nvGrpSpPr>
        <p:grpSpPr>
          <a:xfrm>
            <a:off x="818043" y="6024228"/>
            <a:ext cx="5700536" cy="270998"/>
            <a:chOff x="2329499" y="6228441"/>
            <a:chExt cx="8416456" cy="400110"/>
          </a:xfrm>
        </p:grpSpPr>
        <p:sp>
          <p:nvSpPr>
            <p:cNvPr id="243" name="Rounded Rectangle 242">
              <a:extLst>
                <a:ext uri="{FF2B5EF4-FFF2-40B4-BE49-F238E27FC236}">
                  <a16:creationId xmlns:a16="http://schemas.microsoft.com/office/drawing/2014/main" id="{C5C4520E-61DC-0606-A127-31B0051CA2DA}"/>
                </a:ext>
              </a:extLst>
            </p:cNvPr>
            <p:cNvSpPr/>
            <p:nvPr/>
          </p:nvSpPr>
          <p:spPr>
            <a:xfrm>
              <a:off x="2329499" y="6312871"/>
              <a:ext cx="248602" cy="246222"/>
            </a:xfrm>
            <a:prstGeom prst="roundRect">
              <a:avLst/>
            </a:prstGeom>
            <a:noFill/>
            <a:ln>
              <a:solidFill>
                <a:srgbClr val="0432FF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2555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5109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7664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021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12773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3532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57882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80437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948"/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8A80AD1C-E542-F8A8-D06D-2AF80A3748C5}"/>
                </a:ext>
              </a:extLst>
            </p:cNvPr>
            <p:cNvSpPr txBox="1"/>
            <p:nvPr/>
          </p:nvSpPr>
          <p:spPr>
            <a:xfrm>
              <a:off x="2584287" y="6228441"/>
              <a:ext cx="81616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2555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5109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7664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021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12773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3532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57882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80437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77">
                  <a:latin typeface="Century Gothic" panose="020B0502020202020204" pitchFamily="34" charset="0"/>
                </a:rPr>
                <a:t>Soaking workflows (x2) – post growth plates enter two workflows at 15 min intervals (imaging bottleneck), workflows are offset by 7m30s, active during runs</a:t>
              </a:r>
            </a:p>
          </p:txBody>
        </p:sp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A098A1E6-B0EA-06DE-F273-0BA162201F48}"/>
              </a:ext>
            </a:extLst>
          </p:cNvPr>
          <p:cNvGrpSpPr/>
          <p:nvPr/>
        </p:nvGrpSpPr>
        <p:grpSpPr>
          <a:xfrm>
            <a:off x="815408" y="6291756"/>
            <a:ext cx="4015811" cy="300723"/>
            <a:chOff x="2325608" y="6228441"/>
            <a:chExt cx="5929073" cy="443998"/>
          </a:xfrm>
        </p:grpSpPr>
        <p:sp>
          <p:nvSpPr>
            <p:cNvPr id="246" name="Rounded Rectangle 245">
              <a:extLst>
                <a:ext uri="{FF2B5EF4-FFF2-40B4-BE49-F238E27FC236}">
                  <a16:creationId xmlns:a16="http://schemas.microsoft.com/office/drawing/2014/main" id="{19F18911-FD9F-97F5-D051-5275A57C46FF}"/>
                </a:ext>
              </a:extLst>
            </p:cNvPr>
            <p:cNvSpPr/>
            <p:nvPr/>
          </p:nvSpPr>
          <p:spPr>
            <a:xfrm>
              <a:off x="2325608" y="6347936"/>
              <a:ext cx="248602" cy="246222"/>
            </a:xfrm>
            <a:prstGeom prst="roundRect">
              <a:avLst/>
            </a:prstGeom>
            <a:noFill/>
            <a:ln>
              <a:solidFill>
                <a:srgbClr val="FF2600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2555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5109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7664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021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12773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3532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57882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80437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948"/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1A2D111A-FC52-28D6-6783-B593CCEC8D9E}"/>
                </a:ext>
              </a:extLst>
            </p:cNvPr>
            <p:cNvSpPr txBox="1"/>
            <p:nvPr/>
          </p:nvSpPr>
          <p:spPr>
            <a:xfrm>
              <a:off x="2584285" y="6228441"/>
              <a:ext cx="5670396" cy="44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2555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5109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7664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021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12773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3532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57882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80437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77">
                  <a:latin typeface="Century Gothic" panose="020B0502020202020204" pitchFamily="34" charset="0"/>
                </a:rPr>
                <a:t>Seed stock generation – likely happens during shutdowns when soaking workflow is inactive. 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72C475C-E4CA-37BF-DA0C-4FC33E4DF0F6}"/>
              </a:ext>
            </a:extLst>
          </p:cNvPr>
          <p:cNvSpPr txBox="1"/>
          <p:nvPr/>
        </p:nvSpPr>
        <p:spPr>
          <a:xfrm>
            <a:off x="133597" y="103909"/>
            <a:ext cx="6076208" cy="8156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i="0" u="none" strike="noStrike" baseline="0">
                <a:solidFill>
                  <a:srgbClr val="1F3864"/>
                </a:solidFill>
                <a:latin typeface="Aptos Display"/>
              </a:rPr>
              <a:t>AXL </a:t>
            </a:r>
            <a:r>
              <a:rPr lang="en-US" sz="3600" b="1">
                <a:solidFill>
                  <a:srgbClr val="1F3864"/>
                </a:solidFill>
                <a:latin typeface="Aptos Display"/>
              </a:rPr>
              <a:t>Workflow</a:t>
            </a:r>
            <a:endParaRPr lang="en-US" sz="1100"/>
          </a:p>
          <a:p>
            <a:pPr algn="ctr"/>
            <a:endParaRPr lang="en-US" sz="110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67173EB-6ABF-169C-B06B-1E16C75E8F47}"/>
              </a:ext>
            </a:extLst>
          </p:cNvPr>
          <p:cNvCxnSpPr/>
          <p:nvPr/>
        </p:nvCxnSpPr>
        <p:spPr>
          <a:xfrm flipV="1">
            <a:off x="5495073" y="2979853"/>
            <a:ext cx="520390" cy="9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853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F1B3F4A-4A06-E920-5AB9-7B4AA7A4EA67}"/>
              </a:ext>
            </a:extLst>
          </p:cNvPr>
          <p:cNvSpPr txBox="1"/>
          <p:nvPr/>
        </p:nvSpPr>
        <p:spPr>
          <a:xfrm>
            <a:off x="133597" y="103909"/>
            <a:ext cx="607620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rgbClr val="1F3864"/>
                </a:solidFill>
                <a:latin typeface="Aptos Display"/>
              </a:rPr>
              <a:t>Daily Schedule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6FD8285-213D-408A-64C1-17D2A2001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828" y="0"/>
            <a:ext cx="6405824" cy="685800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7EFA592-324E-00E8-2FF9-1C14DA63CEA5}"/>
              </a:ext>
            </a:extLst>
          </p:cNvPr>
          <p:cNvCxnSpPr/>
          <p:nvPr/>
        </p:nvCxnSpPr>
        <p:spPr>
          <a:xfrm>
            <a:off x="2821323" y="1905713"/>
            <a:ext cx="674142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EE14ECC-0905-05D5-81DA-271887851C8C}"/>
              </a:ext>
            </a:extLst>
          </p:cNvPr>
          <p:cNvSpPr txBox="1"/>
          <p:nvPr/>
        </p:nvSpPr>
        <p:spPr>
          <a:xfrm>
            <a:off x="1202045" y="853276"/>
            <a:ext cx="17347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Crystallisation Setup &amp; Growth</a:t>
            </a:r>
          </a:p>
          <a:p>
            <a:r>
              <a:rPr lang="en-GB"/>
              <a:t>(days-weeks)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87A7BA-CAC3-CED9-6DA3-AA3258730F38}"/>
              </a:ext>
            </a:extLst>
          </p:cNvPr>
          <p:cNvSpPr txBox="1"/>
          <p:nvPr/>
        </p:nvSpPr>
        <p:spPr>
          <a:xfrm>
            <a:off x="1270950" y="3741418"/>
            <a:ext cx="17347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2 Soaking Workflows</a:t>
            </a:r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455F4F16-F975-E5B9-7E72-A91679F0449D}"/>
              </a:ext>
            </a:extLst>
          </p:cNvPr>
          <p:cNvSpPr/>
          <p:nvPr/>
        </p:nvSpPr>
        <p:spPr>
          <a:xfrm>
            <a:off x="3031170" y="103909"/>
            <a:ext cx="387148" cy="1776166"/>
          </a:xfrm>
          <a:prstGeom prst="leftBrace">
            <a:avLst>
              <a:gd name="adj1" fmla="val 52480"/>
              <a:gd name="adj2" fmla="val 6732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B3B0AF08-8305-D992-3869-D6BA8CA2A677}"/>
              </a:ext>
            </a:extLst>
          </p:cNvPr>
          <p:cNvSpPr/>
          <p:nvPr/>
        </p:nvSpPr>
        <p:spPr>
          <a:xfrm>
            <a:off x="3029403" y="1965251"/>
            <a:ext cx="387148" cy="4666279"/>
          </a:xfrm>
          <a:prstGeom prst="leftBrace">
            <a:avLst>
              <a:gd name="adj1" fmla="val 52480"/>
              <a:gd name="adj2" fmla="val 4516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8998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9BFB1E5-E37A-E65B-EAD3-947C80F8099A}"/>
              </a:ext>
            </a:extLst>
          </p:cNvPr>
          <p:cNvGraphicFramePr>
            <a:graphicFrameLocks noGrp="1"/>
          </p:cNvGraphicFramePr>
          <p:nvPr/>
        </p:nvGraphicFramePr>
        <p:xfrm>
          <a:off x="729968" y="1412086"/>
          <a:ext cx="10069154" cy="39458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782">
                  <a:extLst>
                    <a:ext uri="{9D8B030D-6E8A-4147-A177-3AD203B41FA5}">
                      <a16:colId xmlns:a16="http://schemas.microsoft.com/office/drawing/2014/main" val="4126927277"/>
                    </a:ext>
                  </a:extLst>
                </a:gridCol>
                <a:gridCol w="955157">
                  <a:extLst>
                    <a:ext uri="{9D8B030D-6E8A-4147-A177-3AD203B41FA5}">
                      <a16:colId xmlns:a16="http://schemas.microsoft.com/office/drawing/2014/main" val="1879032399"/>
                    </a:ext>
                  </a:extLst>
                </a:gridCol>
                <a:gridCol w="1961590">
                  <a:extLst>
                    <a:ext uri="{9D8B030D-6E8A-4147-A177-3AD203B41FA5}">
                      <a16:colId xmlns:a16="http://schemas.microsoft.com/office/drawing/2014/main" val="4051286586"/>
                    </a:ext>
                  </a:extLst>
                </a:gridCol>
                <a:gridCol w="383396">
                  <a:extLst>
                    <a:ext uri="{9D8B030D-6E8A-4147-A177-3AD203B41FA5}">
                      <a16:colId xmlns:a16="http://schemas.microsoft.com/office/drawing/2014/main" val="2562670394"/>
                    </a:ext>
                  </a:extLst>
                </a:gridCol>
                <a:gridCol w="784030">
                  <a:extLst>
                    <a:ext uri="{9D8B030D-6E8A-4147-A177-3AD203B41FA5}">
                      <a16:colId xmlns:a16="http://schemas.microsoft.com/office/drawing/2014/main" val="2948427436"/>
                    </a:ext>
                  </a:extLst>
                </a:gridCol>
                <a:gridCol w="285622">
                  <a:extLst>
                    <a:ext uri="{9D8B030D-6E8A-4147-A177-3AD203B41FA5}">
                      <a16:colId xmlns:a16="http://schemas.microsoft.com/office/drawing/2014/main" val="4086114370"/>
                    </a:ext>
                  </a:extLst>
                </a:gridCol>
                <a:gridCol w="773347">
                  <a:extLst>
                    <a:ext uri="{9D8B030D-6E8A-4147-A177-3AD203B41FA5}">
                      <a16:colId xmlns:a16="http://schemas.microsoft.com/office/drawing/2014/main" val="4287608327"/>
                    </a:ext>
                  </a:extLst>
                </a:gridCol>
                <a:gridCol w="533987">
                  <a:extLst>
                    <a:ext uri="{9D8B030D-6E8A-4147-A177-3AD203B41FA5}">
                      <a16:colId xmlns:a16="http://schemas.microsoft.com/office/drawing/2014/main" val="2232907720"/>
                    </a:ext>
                  </a:extLst>
                </a:gridCol>
                <a:gridCol w="533987">
                  <a:extLst>
                    <a:ext uri="{9D8B030D-6E8A-4147-A177-3AD203B41FA5}">
                      <a16:colId xmlns:a16="http://schemas.microsoft.com/office/drawing/2014/main" val="1616856937"/>
                    </a:ext>
                  </a:extLst>
                </a:gridCol>
                <a:gridCol w="533987">
                  <a:extLst>
                    <a:ext uri="{9D8B030D-6E8A-4147-A177-3AD203B41FA5}">
                      <a16:colId xmlns:a16="http://schemas.microsoft.com/office/drawing/2014/main" val="842721881"/>
                    </a:ext>
                  </a:extLst>
                </a:gridCol>
                <a:gridCol w="533987">
                  <a:extLst>
                    <a:ext uri="{9D8B030D-6E8A-4147-A177-3AD203B41FA5}">
                      <a16:colId xmlns:a16="http://schemas.microsoft.com/office/drawing/2014/main" val="428539288"/>
                    </a:ext>
                  </a:extLst>
                </a:gridCol>
                <a:gridCol w="275205">
                  <a:extLst>
                    <a:ext uri="{9D8B030D-6E8A-4147-A177-3AD203B41FA5}">
                      <a16:colId xmlns:a16="http://schemas.microsoft.com/office/drawing/2014/main" val="2018860156"/>
                    </a:ext>
                  </a:extLst>
                </a:gridCol>
                <a:gridCol w="251620">
                  <a:extLst>
                    <a:ext uri="{9D8B030D-6E8A-4147-A177-3AD203B41FA5}">
                      <a16:colId xmlns:a16="http://schemas.microsoft.com/office/drawing/2014/main" val="690263290"/>
                    </a:ext>
                  </a:extLst>
                </a:gridCol>
                <a:gridCol w="312618">
                  <a:extLst>
                    <a:ext uri="{9D8B030D-6E8A-4147-A177-3AD203B41FA5}">
                      <a16:colId xmlns:a16="http://schemas.microsoft.com/office/drawing/2014/main" val="37258580"/>
                    </a:ext>
                  </a:extLst>
                </a:gridCol>
                <a:gridCol w="259245">
                  <a:extLst>
                    <a:ext uri="{9D8B030D-6E8A-4147-A177-3AD203B41FA5}">
                      <a16:colId xmlns:a16="http://schemas.microsoft.com/office/drawing/2014/main" val="330154391"/>
                    </a:ext>
                  </a:extLst>
                </a:gridCol>
                <a:gridCol w="266869">
                  <a:extLst>
                    <a:ext uri="{9D8B030D-6E8A-4147-A177-3AD203B41FA5}">
                      <a16:colId xmlns:a16="http://schemas.microsoft.com/office/drawing/2014/main" val="2456926691"/>
                    </a:ext>
                  </a:extLst>
                </a:gridCol>
                <a:gridCol w="1143725">
                  <a:extLst>
                    <a:ext uri="{9D8B030D-6E8A-4147-A177-3AD203B41FA5}">
                      <a16:colId xmlns:a16="http://schemas.microsoft.com/office/drawing/2014/main" val="2109710903"/>
                    </a:ext>
                  </a:extLst>
                </a:gridCol>
              </a:tblGrid>
              <a:tr h="211723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700" b="1" u="none" strike="noStrike">
                          <a:effectLst/>
                        </a:rPr>
                        <a:t>Line No.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Device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GB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GB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Schedule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GB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Device Dimensions</a:t>
                      </a:r>
                    </a:p>
                  </a:txBody>
                  <a:tcPr marL="61933" marR="61933" marT="30967" marB="30967" anchor="b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Services</a:t>
                      </a:r>
                    </a:p>
                  </a:txBody>
                  <a:tcPr marL="61933" marR="61933" marT="30967" marB="30967" anchor="b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618786"/>
                  </a:ext>
                </a:extLst>
              </a:tr>
              <a:tr h="317585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GB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700" b="1" u="none" strike="noStrike">
                          <a:effectLst/>
                        </a:rPr>
                        <a:t>Item Name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700" b="1" u="none" strike="noStrike">
                          <a:effectLst/>
                        </a:rPr>
                        <a:t>Item Function/Description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u="none" strike="noStrike">
                          <a:effectLst/>
                        </a:rPr>
                        <a:t>QTY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 Active Device Time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u="none" strike="noStrike">
                          <a:effectLst/>
                        </a:rPr>
                        <a:t>Phase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700" b="1" u="none" strike="noStrike">
                          <a:effectLst/>
                        </a:rPr>
                        <a:t> Purchase Date 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Width (mm)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Depth (mm)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Height (mm)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Mass (kg)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Power</a:t>
                      </a:r>
                    </a:p>
                  </a:txBody>
                  <a:tcPr marL="0" marR="0" marT="0" marB="0" vert="vert27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Network</a:t>
                      </a:r>
                    </a:p>
                  </a:txBody>
                  <a:tcPr marL="0" marR="0" marT="0" marB="0" vert="vert27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Compressed Air</a:t>
                      </a:r>
                    </a:p>
                  </a:txBody>
                  <a:tcPr marL="0" marR="0" marT="0" marB="0" vert="vert27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Vacuum</a:t>
                      </a:r>
                    </a:p>
                  </a:txBody>
                  <a:tcPr marL="0" marR="0" marT="0" marB="0" vert="vert27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Gas</a:t>
                      </a:r>
                    </a:p>
                  </a:txBody>
                  <a:tcPr marL="0" marR="0" marT="0" marB="0" vert="vert27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Benchtop/Floor-Standing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40654429"/>
                  </a:ext>
                </a:extLst>
              </a:tr>
              <a:tr h="1058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XPEEL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Plate Peeler (1 of 2)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18sec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Mar-25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374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638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374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Benchtop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078412"/>
                  </a:ext>
                </a:extLst>
              </a:tr>
              <a:tr h="1058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2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VSpin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Plate Centrifuge (1 of 2)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2min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Mar-25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328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714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248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Benchtop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33964"/>
                  </a:ext>
                </a:extLst>
              </a:tr>
              <a:tr h="1058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3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PlateLoc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Compound Plate Sealer (1 of 2)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8sec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Mar-25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216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399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584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Benchtop</a:t>
                      </a:r>
                    </a:p>
                  </a:txBody>
                  <a:tcPr marL="0" marR="0" marT="0" marB="0" anchor="b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174309"/>
                  </a:ext>
                </a:extLst>
              </a:tr>
              <a:tr h="1058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5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X-ACT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Prototype (1 of 6)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41mins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2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Jul-26 – Oct27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Benchtop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519704"/>
                  </a:ext>
                </a:extLst>
              </a:tr>
              <a:tr h="1058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6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Mosquito LCP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Crystallisation Plate Setup (1 of 2)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5mins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2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GB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Jul-26 – Oct27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Benchtop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259797"/>
                  </a:ext>
                </a:extLst>
              </a:tr>
              <a:tr h="1335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7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SpectroQ STX-500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Storage &amp; imaging, 20oC(P2) --&gt; 4oC(P4) (1 of 3)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25sec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2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GB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Jul-26 – Oct27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744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716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1940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282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Stand Alone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428366"/>
                  </a:ext>
                </a:extLst>
              </a:tr>
              <a:tr h="1335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8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BenchCel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Plate Supply (1 of 1)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20sec</a:t>
                      </a:r>
                    </a:p>
                  </a:txBody>
                  <a:tcPr marL="0" marR="0" marT="0" marB="0" anchor="ctr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2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GB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Jul-26 – Oct27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1147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622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1311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Stand Alone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225003"/>
                  </a:ext>
                </a:extLst>
              </a:tr>
              <a:tr h="1058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9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Labeller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Plate Labeller (1 of 1)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2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GB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Jul-26 – Oct27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287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622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351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Benchtop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092756"/>
                  </a:ext>
                </a:extLst>
              </a:tr>
              <a:tr h="1335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10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DC2SA STX-500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Compound Storage (1 of 1)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25sec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2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GB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Jul-26 – Oct27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789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728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1940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282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Stand Alone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062386"/>
                  </a:ext>
                </a:extLst>
              </a:tr>
              <a:tr h="1058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11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Echo 650T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Compound dispensing (1 of 2)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7mins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2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GB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Jul-26 – Oct27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538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746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925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142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Benchtop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143651"/>
                  </a:ext>
                </a:extLst>
              </a:tr>
              <a:tr h="1058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12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A4S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Crystal plate sealer (1 of 2)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10sec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2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GB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Jul-26 – Oct27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507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276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Benchtop</a:t>
                      </a:r>
                    </a:p>
                  </a:txBody>
                  <a:tcPr marL="0" marR="0" marT="0" marB="0" anchor="b">
                    <a:solidFill>
                      <a:srgbClr val="0091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916875"/>
                  </a:ext>
                </a:extLst>
              </a:tr>
              <a:tr h="1058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13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X-ACT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Crystal Harvester (2 of 6)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2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 mins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3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Oct-27 – Jan-29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1500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1800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Benchtop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562297"/>
                  </a:ext>
                </a:extLst>
              </a:tr>
              <a:tr h="1335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14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Cobot Arm - TBC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Cobot Arm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TBC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3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GB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Oct-27 – Jan-29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235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1439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Stand Alone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643428"/>
                  </a:ext>
                </a:extLst>
              </a:tr>
              <a:tr h="1335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15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Cobot Rail - TBC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Cobot Rail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TBC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3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GB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Oct-27 – Jan-29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235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Stand Alone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405849"/>
                  </a:ext>
                </a:extLst>
              </a:tr>
              <a:tr h="1058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16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XL200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 err="1">
                          <a:effectLst/>
                        </a:rPr>
                        <a:t>Reformatter</a:t>
                      </a:r>
                      <a:r>
                        <a:rPr lang="en-GB" sz="700" u="none" strike="noStrike">
                          <a:effectLst/>
                        </a:rPr>
                        <a:t> (1 of 1)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batch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3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GB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Oct-27 – Jan-29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1330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820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890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Benchtop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710166"/>
                  </a:ext>
                </a:extLst>
              </a:tr>
              <a:tr h="1335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17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DFSA STX-280 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-20oC deep freeze storage (1 of 1)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25sec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4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Jan-29 – Mar 30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744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716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1203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183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Stand Alone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048763"/>
                  </a:ext>
                </a:extLst>
              </a:tr>
              <a:tr h="1335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18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SpectroQ STX-200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200 plate Storage &amp; imaging, VT (2 of 3)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25sec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4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Jan-29 – Mar 30</a:t>
                      </a:r>
                      <a:endParaRPr kumimoji="0" lang="en-GB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744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716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183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Stand Alone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243921"/>
                  </a:ext>
                </a:extLst>
              </a:tr>
              <a:tr h="1335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19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 err="1">
                          <a:effectLst/>
                        </a:rPr>
                        <a:t>SpectroQ</a:t>
                      </a:r>
                      <a:r>
                        <a:rPr lang="en-GB" sz="700" u="none" strike="noStrike">
                          <a:effectLst/>
                        </a:rPr>
                        <a:t> STX-1000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1000 plate 20oC Storage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25sec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4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Jan-29 – Mar 30</a:t>
                      </a:r>
                      <a:endParaRPr kumimoji="0" lang="en-GB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766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1988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565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Stand Alone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376689"/>
                  </a:ext>
                </a:extLst>
              </a:tr>
              <a:tr h="1335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20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Echo 650T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Relocate Existing XChem Asset/Redundancy Item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0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7mins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4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Jan-29 – Mar 30</a:t>
                      </a:r>
                      <a:endParaRPr kumimoji="0" lang="en-GB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Benchtop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017485"/>
                  </a:ext>
                </a:extLst>
              </a:tr>
              <a:tr h="1058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21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X-ACT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Redundancy Crystal harvester (3-6 of 6)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3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 mins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4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Jan-29 – Mar 30</a:t>
                      </a:r>
                      <a:endParaRPr kumimoji="0" lang="en-GB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2250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Benchtop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130103"/>
                  </a:ext>
                </a:extLst>
              </a:tr>
              <a:tr h="1058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22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Mosquito xtal3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Redundancy Crystallisation Setup (2 of 2)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5mins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4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Jan-29 – Mar 30</a:t>
                      </a:r>
                      <a:endParaRPr kumimoji="0" lang="en-GB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Benchtop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715786"/>
                  </a:ext>
                </a:extLst>
              </a:tr>
              <a:tr h="1058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23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Vspin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Redundancy Centrifuge (2 of 2)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2mins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4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Jan-29 – Mar 30</a:t>
                      </a:r>
                      <a:endParaRPr kumimoji="0" lang="en-GB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328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714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248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Benchtop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811930"/>
                  </a:ext>
                </a:extLst>
              </a:tr>
              <a:tr h="1058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24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PlateLoc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Redundancy Compound Sealer (2 of 2)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2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8sec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4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Jan-29 – Mar 30</a:t>
                      </a:r>
                      <a:endParaRPr kumimoji="0" lang="en-GB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432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798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1168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Benchtop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083212"/>
                  </a:ext>
                </a:extLst>
              </a:tr>
              <a:tr h="1058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25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A4S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Redundancy Crystal Sealer (2 of 2)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10sec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4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Jan-29 – Mar 30</a:t>
                      </a:r>
                      <a:endParaRPr kumimoji="0" lang="en-GB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507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276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Benchtop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949928"/>
                  </a:ext>
                </a:extLst>
              </a:tr>
              <a:tr h="1058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26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XPEEL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Redundancy Plate Peeler (2 of 2)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18sec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4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Jan-29 – Mar 30</a:t>
                      </a:r>
                      <a:endParaRPr kumimoji="0" lang="en-GB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374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638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374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Benchtop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581142"/>
                  </a:ext>
                </a:extLst>
              </a:tr>
              <a:tr h="1335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27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Cobot Arm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Cobots (2-5 of 5)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2-5-TBC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TBC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4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Jan-29 – Mar 30</a:t>
                      </a:r>
                      <a:endParaRPr kumimoji="0" lang="en-GB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804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5756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Stand Alone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760830"/>
                  </a:ext>
                </a:extLst>
              </a:tr>
              <a:tr h="1335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28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Cobot Rail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Cobots (2-5 of 5)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2-5-TBC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TBC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4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Jan-29 – Mar 30</a:t>
                      </a:r>
                      <a:endParaRPr kumimoji="0" lang="en-GB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804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Stand Alone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930019"/>
                  </a:ext>
                </a:extLst>
              </a:tr>
              <a:tr h="1335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29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 err="1">
                          <a:effectLst/>
                        </a:rPr>
                        <a:t>Arktik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-80oC (protein) storage (1 of 1)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 sec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4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Nov-29 – Mar 30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Stand Alone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450647"/>
                  </a:ext>
                </a:extLst>
              </a:tr>
              <a:tr h="1058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30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Connect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Benchtop access for </a:t>
                      </a:r>
                      <a:r>
                        <a:rPr lang="en-GB" sz="700" u="none" strike="noStrike" err="1">
                          <a:effectLst/>
                        </a:rPr>
                        <a:t>Arktik</a:t>
                      </a:r>
                      <a:r>
                        <a:rPr lang="en-GB" sz="700" u="none" strike="noStrike">
                          <a:effectLst/>
                        </a:rPr>
                        <a:t> (1 of 1)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1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4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u="none" strike="noStrike">
                          <a:effectLst/>
                        </a:rPr>
                        <a:t>Dec-29 – Mar 30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765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785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Benchtop</a:t>
                      </a:r>
                    </a:p>
                  </a:txBody>
                  <a:tcPr marL="0" marR="0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16169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AE9C4BF-7FDB-E630-8677-C0E201FAAE64}"/>
              </a:ext>
            </a:extLst>
          </p:cNvPr>
          <p:cNvSpPr txBox="1"/>
          <p:nvPr/>
        </p:nvSpPr>
        <p:spPr>
          <a:xfrm>
            <a:off x="106383" y="103909"/>
            <a:ext cx="1160524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rgbClr val="1F3864"/>
                </a:solidFill>
                <a:latin typeface="Aptos Display"/>
              </a:rPr>
              <a:t>Device List, Throughputs, Scheduled purchase dates, site requirements &amp; services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AD86F10-5150-ADC6-0F26-84624734F5AD}"/>
              </a:ext>
            </a:extLst>
          </p:cNvPr>
          <p:cNvGrpSpPr/>
          <p:nvPr/>
        </p:nvGrpSpPr>
        <p:grpSpPr>
          <a:xfrm>
            <a:off x="777839" y="5643996"/>
            <a:ext cx="4026088" cy="204235"/>
            <a:chOff x="9259624" y="620682"/>
            <a:chExt cx="5944231" cy="301538"/>
          </a:xfrm>
        </p:grpSpPr>
        <p:sp>
          <p:nvSpPr>
            <p:cNvPr id="7" name="Rounded Rectangle 28">
              <a:extLst>
                <a:ext uri="{FF2B5EF4-FFF2-40B4-BE49-F238E27FC236}">
                  <a16:creationId xmlns:a16="http://schemas.microsoft.com/office/drawing/2014/main" id="{9732C135-D1F2-593B-E4E1-DDD3B9E41E79}"/>
                </a:ext>
              </a:extLst>
            </p:cNvPr>
            <p:cNvSpPr/>
            <p:nvPr/>
          </p:nvSpPr>
          <p:spPr>
            <a:xfrm>
              <a:off x="9259624" y="620682"/>
              <a:ext cx="246221" cy="246221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2555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5109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7664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021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12773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3532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57882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80437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6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074F183-2DCC-3F07-D1F3-FDD40DC6E67E}"/>
                </a:ext>
              </a:extLst>
            </p:cNvPr>
            <p:cNvSpPr txBox="1"/>
            <p:nvPr/>
          </p:nvSpPr>
          <p:spPr>
            <a:xfrm>
              <a:off x="9505845" y="632059"/>
              <a:ext cx="5698010" cy="290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2555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5109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7664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021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12773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3532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57882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80437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77">
                  <a:latin typeface="Century Gothic" panose="020B0502020202020204" pitchFamily="34" charset="0"/>
                </a:rPr>
                <a:t>Phase 1 (complete)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FA98995-5196-B8F3-3A5E-5EF5D152A599}"/>
              </a:ext>
            </a:extLst>
          </p:cNvPr>
          <p:cNvSpPr txBox="1"/>
          <p:nvPr/>
        </p:nvSpPr>
        <p:spPr>
          <a:xfrm>
            <a:off x="674016" y="5425412"/>
            <a:ext cx="1641111" cy="196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77" b="1" u="sng">
                <a:latin typeface="Century Gothic" panose="020B0502020202020204" pitchFamily="34" charset="0"/>
              </a:rPr>
              <a:t>Key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B8E3F74-BB5D-3942-7D0D-14EAEA597FD2}"/>
              </a:ext>
            </a:extLst>
          </p:cNvPr>
          <p:cNvGrpSpPr/>
          <p:nvPr/>
        </p:nvGrpSpPr>
        <p:grpSpPr>
          <a:xfrm>
            <a:off x="777840" y="5906713"/>
            <a:ext cx="3883315" cy="196529"/>
            <a:chOff x="9259624" y="620682"/>
            <a:chExt cx="5733436" cy="290161"/>
          </a:xfrm>
        </p:grpSpPr>
        <p:sp>
          <p:nvSpPr>
            <p:cNvPr id="13" name="Rounded Rectangle 32">
              <a:extLst>
                <a:ext uri="{FF2B5EF4-FFF2-40B4-BE49-F238E27FC236}">
                  <a16:creationId xmlns:a16="http://schemas.microsoft.com/office/drawing/2014/main" id="{F1AC0236-2D6B-ED64-B5F6-21E48DD145E0}"/>
                </a:ext>
              </a:extLst>
            </p:cNvPr>
            <p:cNvSpPr/>
            <p:nvPr/>
          </p:nvSpPr>
          <p:spPr>
            <a:xfrm>
              <a:off x="9259624" y="620682"/>
              <a:ext cx="246221" cy="246221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2555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5109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7664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021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12773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3532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57882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80437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6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F16A723-D0C2-30C2-CB3C-B1F03D8BC1EE}"/>
                </a:ext>
              </a:extLst>
            </p:cNvPr>
            <p:cNvSpPr txBox="1"/>
            <p:nvPr/>
          </p:nvSpPr>
          <p:spPr>
            <a:xfrm>
              <a:off x="9505845" y="620682"/>
              <a:ext cx="5487215" cy="290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2555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5109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7664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021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12773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3532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57882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80437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77">
                  <a:latin typeface="Century Gothic" panose="020B0502020202020204" pitchFamily="34" charset="0"/>
                </a:rPr>
                <a:t>Phase 2 (In progress – Codify Experiment, Sample Handling)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FD38E1C-4D99-B692-2C3D-6080FC48CDCF}"/>
              </a:ext>
            </a:extLst>
          </p:cNvPr>
          <p:cNvGrpSpPr/>
          <p:nvPr/>
        </p:nvGrpSpPr>
        <p:grpSpPr>
          <a:xfrm>
            <a:off x="777840" y="6144974"/>
            <a:ext cx="3883315" cy="196529"/>
            <a:chOff x="9259624" y="620682"/>
            <a:chExt cx="5733436" cy="290161"/>
          </a:xfrm>
        </p:grpSpPr>
        <p:sp>
          <p:nvSpPr>
            <p:cNvPr id="17" name="Rounded Rectangle 35">
              <a:extLst>
                <a:ext uri="{FF2B5EF4-FFF2-40B4-BE49-F238E27FC236}">
                  <a16:creationId xmlns:a16="http://schemas.microsoft.com/office/drawing/2014/main" id="{ED416DC9-6BB9-0C42-30D5-FA1D49812F4D}"/>
                </a:ext>
              </a:extLst>
            </p:cNvPr>
            <p:cNvSpPr/>
            <p:nvPr/>
          </p:nvSpPr>
          <p:spPr>
            <a:xfrm>
              <a:off x="9259624" y="620682"/>
              <a:ext cx="246221" cy="246221"/>
            </a:xfrm>
            <a:prstGeom prst="roundRect">
              <a:avLst/>
            </a:prstGeom>
            <a:pattFill prst="wdUpDiag">
              <a:fgClr>
                <a:schemeClr val="accent1"/>
              </a:fgClr>
              <a:bgClr>
                <a:schemeClr val="accent5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2555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5109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7664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021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12773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3532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57882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80437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6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720D057-A2F0-6EF8-3818-6C29A58A86AB}"/>
                </a:ext>
              </a:extLst>
            </p:cNvPr>
            <p:cNvSpPr txBox="1"/>
            <p:nvPr/>
          </p:nvSpPr>
          <p:spPr>
            <a:xfrm>
              <a:off x="9505845" y="620682"/>
              <a:ext cx="5487215" cy="290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2555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5109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7664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021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12773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3532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57882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80437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77">
                  <a:latin typeface="Century Gothic" panose="020B0502020202020204" pitchFamily="34" charset="0"/>
                </a:rPr>
                <a:t>Phase 3 (Dark Period - Plate Handling &amp; Transport)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058006-51B8-9A13-129B-877DAA4F7BAC}"/>
              </a:ext>
            </a:extLst>
          </p:cNvPr>
          <p:cNvGrpSpPr/>
          <p:nvPr/>
        </p:nvGrpSpPr>
        <p:grpSpPr>
          <a:xfrm>
            <a:off x="777840" y="6365582"/>
            <a:ext cx="3883315" cy="196529"/>
            <a:chOff x="9259624" y="620682"/>
            <a:chExt cx="5733436" cy="290161"/>
          </a:xfrm>
        </p:grpSpPr>
        <p:sp>
          <p:nvSpPr>
            <p:cNvPr id="21" name="Rounded Rectangle 38">
              <a:extLst>
                <a:ext uri="{FF2B5EF4-FFF2-40B4-BE49-F238E27FC236}">
                  <a16:creationId xmlns:a16="http://schemas.microsoft.com/office/drawing/2014/main" id="{F279E3F2-5423-4749-B174-7FAAD0BE5A63}"/>
                </a:ext>
              </a:extLst>
            </p:cNvPr>
            <p:cNvSpPr/>
            <p:nvPr/>
          </p:nvSpPr>
          <p:spPr>
            <a:xfrm>
              <a:off x="9259624" y="620682"/>
              <a:ext cx="246221" cy="246221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2555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5109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7664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021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12773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3532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57882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80437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6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8F46E5C-50E6-F61D-4A7B-171E8CD5E2C9}"/>
                </a:ext>
              </a:extLst>
            </p:cNvPr>
            <p:cNvSpPr txBox="1"/>
            <p:nvPr/>
          </p:nvSpPr>
          <p:spPr>
            <a:xfrm>
              <a:off x="9505845" y="620682"/>
              <a:ext cx="5487215" cy="290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2555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5109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7664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021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12773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35328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57882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80437" algn="l" defTabSz="322555" rtl="0" eaLnBrk="1" latinLnBrk="0" hangingPunct="1">
                <a:defRPr sz="12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77">
                  <a:latin typeface="Century Gothic" panose="020B0502020202020204" pitchFamily="34" charset="0"/>
                </a:rPr>
                <a:t>Phase 4 (Post Dark – Duplicate workflow, scale throughput)</a:t>
              </a:r>
            </a:p>
          </p:txBody>
        </p:sp>
      </p:grpSp>
      <p:sp>
        <p:nvSpPr>
          <p:cNvPr id="25" name="Rounded Rectangle 28">
            <a:extLst>
              <a:ext uri="{FF2B5EF4-FFF2-40B4-BE49-F238E27FC236}">
                <a16:creationId xmlns:a16="http://schemas.microsoft.com/office/drawing/2014/main" id="{7CB42CF1-8FEA-407A-2C59-B7CDBAD100D8}"/>
              </a:ext>
            </a:extLst>
          </p:cNvPr>
          <p:cNvSpPr/>
          <p:nvPr/>
        </p:nvSpPr>
        <p:spPr>
          <a:xfrm>
            <a:off x="777840" y="5643997"/>
            <a:ext cx="166768" cy="166769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60"/>
          </a:p>
        </p:txBody>
      </p:sp>
      <p:sp>
        <p:nvSpPr>
          <p:cNvPr id="31" name="Rounded Rectangle 32">
            <a:extLst>
              <a:ext uri="{FF2B5EF4-FFF2-40B4-BE49-F238E27FC236}">
                <a16:creationId xmlns:a16="http://schemas.microsoft.com/office/drawing/2014/main" id="{CCE13906-5AEE-86F7-5EAA-FABD490FB7CF}"/>
              </a:ext>
            </a:extLst>
          </p:cNvPr>
          <p:cNvSpPr/>
          <p:nvPr/>
        </p:nvSpPr>
        <p:spPr>
          <a:xfrm>
            <a:off x="777840" y="5906713"/>
            <a:ext cx="166768" cy="166768"/>
          </a:xfrm>
          <a:prstGeom prst="roundRect">
            <a:avLst/>
          </a:prstGeom>
          <a:solidFill>
            <a:srgbClr val="0091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60"/>
          </a:p>
        </p:txBody>
      </p:sp>
      <p:sp>
        <p:nvSpPr>
          <p:cNvPr id="35" name="Rounded Rectangle 35">
            <a:extLst>
              <a:ext uri="{FF2B5EF4-FFF2-40B4-BE49-F238E27FC236}">
                <a16:creationId xmlns:a16="http://schemas.microsoft.com/office/drawing/2014/main" id="{01C31B37-103F-0FE4-A583-90EE6F277593}"/>
              </a:ext>
            </a:extLst>
          </p:cNvPr>
          <p:cNvSpPr/>
          <p:nvPr/>
        </p:nvSpPr>
        <p:spPr>
          <a:xfrm>
            <a:off x="777840" y="6144973"/>
            <a:ext cx="166768" cy="16676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60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D91EA8E-058E-7E28-24A0-93B2AD9F5E12}"/>
              </a:ext>
            </a:extLst>
          </p:cNvPr>
          <p:cNvSpPr/>
          <p:nvPr/>
        </p:nvSpPr>
        <p:spPr>
          <a:xfrm>
            <a:off x="777840" y="6365582"/>
            <a:ext cx="166768" cy="16676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555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5109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7664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021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12773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35328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57882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80437" algn="l" defTabSz="322555" rtl="0" eaLnBrk="1" latinLnBrk="0" hangingPunct="1">
              <a:defRPr sz="1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60"/>
          </a:p>
        </p:txBody>
      </p:sp>
    </p:spTree>
    <p:extLst>
      <p:ext uri="{BB962C8B-B14F-4D97-AF65-F5344CB8AC3E}">
        <p14:creationId xmlns:p14="http://schemas.microsoft.com/office/powerpoint/2010/main" val="2859615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4710696-f0fd-4659-9c41-342689838806}" enabled="1" method="Privileged" siteId="{9d27ba74-0100-4d0d-81ff-1d728dae8df6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1374</Words>
  <Application>Microsoft Macintosh PowerPoint</Application>
  <PresentationFormat>Widescreen</PresentationFormat>
  <Paragraphs>655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Century Gothic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Orr, Christian (DLSLtd,RAL,LSCI)</dc:creator>
  <cp:lastModifiedBy>Orr, Christian (DLSLtd,RAL,LSCI)</cp:lastModifiedBy>
  <cp:revision>1</cp:revision>
  <dcterms:created xsi:type="dcterms:W3CDTF">2026-10-26T18:48:17Z</dcterms:created>
  <dcterms:modified xsi:type="dcterms:W3CDTF">2026-10-26T18:48:53Z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Classification: Public</vt:lpwstr>
  </property>
</Properties>
</file>